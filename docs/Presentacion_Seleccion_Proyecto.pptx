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4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77240"/>
            <a:ext cx="1143000" cy="1143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49808"/>
            <a:ext cx="11430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86868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PARKINGS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37160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10B981"/>
                </a:solidFill>
                <a:latin typeface="Calibri"/>
              </a:rPr>
              <a:t>Economía colaborativa de estacionamientos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96012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SELECCIÓN DE PROYECTO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10B981"/>
                </a:solidFill>
                <a:latin typeface="Calibri"/>
              </a:rPr>
              <a:t>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BD5E1"/>
                </a:solidFill>
                <a:latin typeface="Calibri"/>
              </a:rPr>
              <a:t>Evaluación Parcial N°3 — Informe de Cierre y Defensa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26280"/>
            <a:ext cx="2514600" cy="100584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526280"/>
            <a:ext cx="82296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636008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RA3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983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Selección reflexiva de proyecto de 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526280"/>
            <a:ext cx="2514600" cy="100584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4526280"/>
            <a:ext cx="82296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4636008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IL 3.1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4983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Evaluación crítica de implicancias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26280"/>
            <a:ext cx="2514600" cy="100584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4526280"/>
            <a:ext cx="82296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636008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IL 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983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Técnicas de análisis y priorización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4526280"/>
            <a:ext cx="2514600" cy="100584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0" y="4526280"/>
            <a:ext cx="82296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4636008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IL 3.3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498348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Documentación final y comunicación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89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Caso Semestral — Semana 16   |   Equipo de Trabajo: Dareko   |   Evaluación de Proyectos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Estructura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40 slides — cobertura completa del proceso de selección y defensa por rúbrica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107899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01–04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691640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Contexto y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75688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Caso organizacional, problema, stakeholders y requerimientos validados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82296" cy="10789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09928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05–09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691640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Análisis de Opciones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75688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3 alternativas, Matriz de Pugh, FODA, Árbol de Decisión y Benchmarking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07208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2807208"/>
            <a:ext cx="82296" cy="107899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16936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10–14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898648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Factibilidad y Costos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282696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TELOS, costo-beneficio, gestión de riesgos y mitigación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807208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2807208"/>
            <a:ext cx="82296" cy="10789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916936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15–18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898648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Diseño Técnico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282696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Arquitectura BFF, flujo Saga, MVP real en código y Gantt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014216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4014216"/>
            <a:ext cx="82296" cy="107899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23944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19–22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105656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Proyecciones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4489704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Canvas, KPIs, proyecciones y monetización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014216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4014216"/>
            <a:ext cx="82296" cy="10789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23944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23–26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105656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Documentación IL 3.3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489704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Informe de cierre, formato APA, demo real y equipo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221224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5221224"/>
            <a:ext cx="82296" cy="107899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330952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27–29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312664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Rúbrica y Defensa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696712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Criterios, banco de preguntas y reflexión individual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5221224"/>
            <a:ext cx="539496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63640" y="5221224"/>
            <a:ext cx="82296" cy="10789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5330952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30–40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312664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Cierre + C1–C7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696712"/>
            <a:ext cx="3886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Conclusiones y evidencia 100% por cada criterio oficial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Parkings Together · Dareko · Evaluación de Proyectos de Software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Contexto Organizacional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Dareko / Parkings Together — startup de movilidad urbana colaborativa (Chile)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21208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82296" cy="2743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DESCRIPCIÓN DE LA ORGANIZACIÓN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48006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Tipo: Startup de movilidad urbana (Chile)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Misión: aprovechar la capacidad ociosa de estacionamientos privados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Visión: ser la red P2P de estacionamientos líder en LATAM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Usuarios: conductores, arrendadores particulares y empresas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Estado: MVP funcional desplegado, equipo reducido, validación en RM y O'Higgins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54480"/>
            <a:ext cx="548640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60" y="1554480"/>
            <a:ext cx="82296" cy="13258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64208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F4444"/>
                </a:solidFill>
                <a:latin typeface="Calibri"/>
              </a:rPr>
              <a:t>PROBLEMA IDENTIFICADO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51206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En las ciudades chilenas faltan plazas mientras miles de estacionamientos privados quedan vacíos gran parte del día. El conductor pierde tiempo y combustible dando vueltas; el dueño del espacio no monetiza un activo ocioso.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990088"/>
            <a:ext cx="5486400" cy="13075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2990088"/>
            <a:ext cx="82296" cy="13075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099816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OPORTUNIDAD DE NEGOCIO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93008"/>
            <a:ext cx="51206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Chile supera los 6 millones de vehículos con alta congestión urbana. La economía colaborativa de estacionamientos (SpotHero, JustPark) mueve cientos de millones de USD en otros mercados, pero no existe un actor local consolidado.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1645920" cy="128016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645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6M+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vehículos en Chile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14016" y="4526280"/>
            <a:ext cx="1645920" cy="128016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4709160"/>
            <a:ext cx="1645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~30%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456" y="525780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tiempo urbano buscando plaza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87952" y="4526280"/>
            <a:ext cx="1645920" cy="128016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4709160"/>
            <a:ext cx="1645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525780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competidor local consolidado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Fuente: INE Chile (parque vehicular) · benchmarking de mercado P2P internacional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Partes Interesadas y Requerimientos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Actores clave del ecosistema y sus necesidades validadas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265176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32461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783080"/>
            <a:ext cx="1737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Conductor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68880"/>
            <a:ext cx="228600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Encontrar plaza en tiempo real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Reserva y pago seguro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Precio claro sin sorpresas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Acceso gratuito siempre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1600200"/>
            <a:ext cx="265176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38144" y="1600200"/>
            <a:ext cx="82296" cy="3246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66744" y="17830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783080"/>
            <a:ext cx="1737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Arrendador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468880"/>
            <a:ext cx="228600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Publicar plazas en minutos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Gestión de reservas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Comisión justa y transparente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Pagos puntuales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600200"/>
            <a:ext cx="265176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1600200"/>
            <a:ext cx="82296" cy="32461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17830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1783080"/>
            <a:ext cx="1737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Empresa / Municipio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468880"/>
            <a:ext cx="228600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Plazas para flotas/empleados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Datos de ocupación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Convenios corporativos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Reportes de uso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1600200"/>
            <a:ext cx="265176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34272" y="1600200"/>
            <a:ext cx="82296" cy="32461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1783080"/>
            <a:ext cx="548640" cy="54864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1783080"/>
            <a:ext cx="1737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Equipo Dareko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468880"/>
            <a:ext cx="228600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MVP escalable y mantenible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Arquitectura segura (RLS)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Documentación completa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Base para inversión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927080" cy="8686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029200"/>
            <a:ext cx="82296" cy="868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120640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Requerimiento transversal:  </a:t>
            </a:r>
            <a:r>
              <a:rPr sz="1150" b="0" i="0">
                <a:solidFill>
                  <a:srgbClr val="1E293B"/>
                </a:solidFill>
                <a:latin typeface="Calibri"/>
              </a:rPr>
              <a:t>el sistema debe cumplir la Ley 19.628 de protección de datos personales, garantizar aislamiento de datos entre usuarios (RLS) y procesar pagos de forma segura.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Requerimientos levantados en la fase de descubrimiento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Proceso de Evaluación de Proyectos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Fases metodológicas que condujeron a una selección fundamentada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4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210312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82296" cy="2834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17320" y="21031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084831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Levantamiento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783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Entrevistas con stakeholders, definición de criterios de éxito y alcance del MVP.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632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8648" y="1920240"/>
            <a:ext cx="210312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98648" y="1920240"/>
            <a:ext cx="82296" cy="2834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5888" y="21031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2084831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278892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Generación de alternativas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3429000"/>
            <a:ext cx="1783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Tres vías de desarrollo: a medida, No-Code y SaaS white-label.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30632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7216" y="1920240"/>
            <a:ext cx="210312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57216" y="1920240"/>
            <a:ext cx="82296" cy="2834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34456" y="21031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34456" y="2084831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4376" y="278892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Factibilidad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3429000"/>
            <a:ext cx="1783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Análisis TELOS por alternativa: Técnica, Económica, Legal, Operacional, Scheduling.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30632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5784" y="1920240"/>
            <a:ext cx="210312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15784" y="1920240"/>
            <a:ext cx="82296" cy="2834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93024" y="21031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2084831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278892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Técnicas analíticas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8664" y="3429000"/>
            <a:ext cx="1783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Matriz de Pugh, FODA cruzado, árbol de decisión, benchmarking y costo-beneficio.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30632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74352" y="1920240"/>
            <a:ext cx="210312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74352" y="1920240"/>
            <a:ext cx="82296" cy="2834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51592" y="21031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1592" y="2084831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2788920"/>
            <a:ext cx="1828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Selección + MVP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7232" y="3429000"/>
            <a:ext cx="1783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Elección fundamentada de la Opción A y construcción del MVP real funcional.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Metodología alineada con el RA3: selección reflexiva de proyecto de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ALTERNATIVAS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Tres Alternativas de 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Análisis comparativo inicial de las vías de implementación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5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520440" cy="4480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82296" cy="44805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417320"/>
            <a:ext cx="118872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399032"/>
            <a:ext cx="11887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 ELEGIDA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91640"/>
            <a:ext cx="3017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OPCIÓN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93392"/>
            <a:ext cx="3108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Desarrollo a 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514600"/>
            <a:ext cx="3108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Stack: Next.js + Supabase (PostGIS)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Monorepo Turborepo + BFF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Control total del producto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Tiempo: 3–4 meses MVP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Costo: $6–10 M CLP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✔ Control y escalabilidad 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✔ Propiedad intelectual propia 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✔ Datos y RLS bajo control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4444"/>
                </a:solidFill>
                <a:latin typeface="Calibri"/>
              </a:rPr>
              <a:t>✘ Mayor esfuerzo de desarrollo 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4444"/>
                </a:solidFill>
                <a:latin typeface="Calibri"/>
              </a:rPr>
              <a:t>✘ Requiere dominio del stack  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1554480"/>
            <a:ext cx="35204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61688" y="1554480"/>
            <a:ext cx="82296" cy="448056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1691640"/>
            <a:ext cx="3017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OPCIÓN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1993392"/>
            <a:ext cx="3108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Plataforma No-Code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514600"/>
            <a:ext cx="3108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Bubble + Google Maps + Stripe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Despliegue en 1–2 meses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Costo: $2–4 M CLP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Dependencia de proveedores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Sin API ni lógica propia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52628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✔ Despliegue rápido 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✔ Menor costo inicial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349240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4444"/>
                </a:solidFill>
                <a:latin typeface="Calibri"/>
              </a:rPr>
              <a:t>✘ Vendor lock-in severo 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4444"/>
                </a:solidFill>
                <a:latin typeface="Calibri"/>
              </a:rPr>
              <a:t>✘ Sin geoconsultas reales (PostGIS)  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1554480"/>
            <a:ext cx="35204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83296" y="1554480"/>
            <a:ext cx="82296" cy="448056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1691640"/>
            <a:ext cx="3017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OPCIÓN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1993392"/>
            <a:ext cx="3108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SaaS White-label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514600"/>
            <a:ext cx="3108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Plantilla marketplace + plugins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Tiempo: 2–3 meses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Costo: $4–7 M CLP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Personalización parcial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Costos recurrentes altos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52628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✔ Módulos pre-construidos 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✔ Equilibrio costo/tiempo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5349240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4444"/>
                </a:solidFill>
                <a:latin typeface="Calibri"/>
              </a:rPr>
              <a:t>✘ Sin diferenciación real 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EF4444"/>
                </a:solidFill>
                <a:latin typeface="Calibri"/>
              </a:rPr>
              <a:t>✘ Comisiones del proveedor  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172200"/>
            <a:ext cx="10927080" cy="50292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172200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La Opción A maximiza control técnico, escalabilidad y propiedad intelectual — y ya cuenta con un MVP real funcionando, evidencia que ninguna otra opción puede ofrecer.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TÉCNICAS IL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Métodos de Análisis Aplicados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6 herramientas estructuradas para una decisión fundamentada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6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Análisis Costo-Beneficio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31546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Inversión vs. retorno proyectado. Opción A: TIR 31%, VAN $5.4M CLP a 3 años.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18688"/>
            <a:ext cx="1280160" cy="2926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1280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Rigor: Alta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64592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1688" y="164592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78308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Matriz de Pugh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331720"/>
            <a:ext cx="31546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Evaluación ponderada en 7 criterios. A=4.41/5.0 supera a B (2.79) y C (3.18).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0288" y="3218688"/>
            <a:ext cx="1280160" cy="2926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200400"/>
            <a:ext cx="1280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Rigor: Alta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64592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3296" y="164592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178308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FODA Cruzado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2331720"/>
            <a:ext cx="31546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Estrategias FO/FA/DO/DA. Identifica la ventaja única de geoconsultas + RLS propio.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1896" y="3218688"/>
            <a:ext cx="1280160" cy="2926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3200400"/>
            <a:ext cx="1280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Rigor: Alta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4048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384048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97764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Árbol de Decisión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526280"/>
            <a:ext cx="31546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Escenarios probabilísticos de adopción. Mejor valor esperado en Opción A ($6.1M).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413248"/>
            <a:ext cx="1280160" cy="2926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394960"/>
            <a:ext cx="1280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Rigor: Alta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1688" y="384048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61688" y="384048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97764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Factibilidad TELOS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4526280"/>
            <a:ext cx="31546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5 dimensiones evaluadas. Puntaje compuesto A=88/100.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0288" y="5413248"/>
            <a:ext cx="1280160" cy="2926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5394960"/>
            <a:ext cx="1280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Rigor: Alta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384048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83296" y="384048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1896" y="397764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Benchmarking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4526280"/>
            <a:ext cx="31546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vs. SpotHero, JustPark, EasyPark y Parclick. A diferencia por foco local chileno.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11896" y="5413248"/>
            <a:ext cx="1280160" cy="2926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1896" y="5394960"/>
            <a:ext cx="1280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Rigor: Media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Las 6 técnicas son complementarias y convergen en la misma recomendación: Opción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MATRIZ DE PUGH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Evaluación Ponderada de Alternativas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Puntaje 1–5 × Peso → Puntaje Total Ponderado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7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393192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Criterio de Evaluación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18872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00200"/>
            <a:ext cx="201168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6002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 · Des. Propio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600200"/>
            <a:ext cx="192024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6002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 · No-Code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600200"/>
            <a:ext cx="1874519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6002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 · SaaS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574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0574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Factibilidad Técnica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0574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0574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05740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0574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5 (1.00)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0574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0574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3 (0.60)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057400"/>
            <a:ext cx="187451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0574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3 (0.60)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514600"/>
            <a:ext cx="3931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5146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Factibilidad Económica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51460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25146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51460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5146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3 (0.45)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514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25146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5 (0.75)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2514600"/>
            <a:ext cx="1874519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25146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4 (0.60)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29718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29718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Escalabilidad del Sistema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9718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29718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297180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29718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5 (0.90)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29718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29718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2 (0.36)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92640" y="2971800"/>
            <a:ext cx="187451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29718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3 (0.54)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3429000"/>
            <a:ext cx="3931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34290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Tiempo de Implementación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342900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34290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342900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60" y="34290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3 (0.36)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0" y="34290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34290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5 (0.60)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3429000"/>
            <a:ext cx="1874519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0" y="34290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4 (0.48)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38862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38862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Control del Producto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8862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63440" y="38862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388620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0" y="38862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5 (0.75)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38862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38862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 (0.15)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92640" y="3886200"/>
            <a:ext cx="187451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0" y="38862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3 (0.45)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4343400"/>
            <a:ext cx="3931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3434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Riesgo Legal / Vendor Lock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434340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0" y="43434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60720" y="434340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52160" y="43434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5 (0.50)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43434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63840" y="43434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2 (0.20)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92640" y="4343400"/>
            <a:ext cx="1874519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84080" y="43434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3 (0.30)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48006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48006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Alineación Estratégica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0" y="48006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3440" y="48006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60720" y="480060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52160" y="48006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5 (0.50)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72400" y="48006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63840" y="48006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1 (0.13)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92640" y="4800600"/>
            <a:ext cx="187451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84080" y="48006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2 (0.21)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" y="5257800"/>
            <a:ext cx="3931920" cy="457200"/>
          </a:xfrm>
          <a:prstGeom prst="rect">
            <a:avLst/>
          </a:prstGeom>
          <a:solidFill>
            <a:srgbClr val="14335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5257800"/>
            <a:ext cx="3794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TOTAL PONDERADO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0" y="5257800"/>
            <a:ext cx="1188720" cy="457200"/>
          </a:xfrm>
          <a:prstGeom prst="rect">
            <a:avLst/>
          </a:prstGeom>
          <a:solidFill>
            <a:srgbClr val="14335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63440" y="5257800"/>
            <a:ext cx="1051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5257800"/>
            <a:ext cx="2011680" cy="457200"/>
          </a:xfrm>
          <a:prstGeom prst="rect">
            <a:avLst/>
          </a:prstGeom>
          <a:solidFill>
            <a:srgbClr val="10B981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52160" y="5257800"/>
            <a:ext cx="1874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4.41 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72400" y="5257800"/>
            <a:ext cx="1920240" cy="457200"/>
          </a:xfrm>
          <a:prstGeom prst="rect">
            <a:avLst/>
          </a:prstGeom>
          <a:solidFill>
            <a:srgbClr val="14335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63840" y="5257800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2.79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92640" y="5257800"/>
            <a:ext cx="1874519" cy="457200"/>
          </a:xfrm>
          <a:prstGeom prst="rect">
            <a:avLst/>
          </a:prstGeom>
          <a:solidFill>
            <a:srgbClr val="14335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784080" y="5257800"/>
            <a:ext cx="173735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3.18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" y="5989320"/>
            <a:ext cx="10927080" cy="640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40080" y="5989320"/>
            <a:ext cx="82296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8680" y="5989320"/>
            <a:ext cx="10515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★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La Opción A obtiene el mayor puntaje ponderado (4.41/5.0). Domina en 5 de 7 criterios, en especial escalabilidad (18%) y control del producto (15%), los de mayor peso estratégico.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FODA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Análisis FODA — Opción A (Desarrollo Propio)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Evaluación estratégica cruzada del proyecto seleccionado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8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2103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19202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19202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FORTALEZAS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4937760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MVP real ya funcional y desplegado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Geoconsultas PostGIS + RLS por usuario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Modelo freemium validado vs. competencia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Propiedad intelectual 100% propia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66 pruebas unitarias en verde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82296" cy="21031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192024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600200"/>
            <a:ext cx="19202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48840"/>
            <a:ext cx="4937760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Mercado local sin actor consolidado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Congestión urbana creciente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Demanda de movilidad inteligente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Expansión a regiones y LATAM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Convenios B2B con empresas/municipios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82296" cy="21031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192024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9202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DEBILIDADES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4937760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Equipo inicial reducido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Dependencia de Supabase como BaaS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Sin track record comercial aún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Pagos hoy simulados (falta Webpay)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Marca nueva por posicionar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82296" cy="21031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840480"/>
            <a:ext cx="192024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840480"/>
            <a:ext cx="19202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AMENAZAS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89120"/>
            <a:ext cx="4937760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Entrada de un competidor con capital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Cambios de precio del BaaS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Regulación municipal de arriendo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Adopción lenta del lado arrendador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Estacionamientos formales con apps propias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Estrategia FO clave: combinar MVP funcional propio (F) con un mercado local sin líder (O)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ÁRBOL DE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Escenarios Probabilísticos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Valor esperado (VE) calculado para cada alternativa bajo 3 escenarios de mercado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9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52044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3291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Opción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719072"/>
            <a:ext cx="1188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700784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$6.1M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33172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60% Adopción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7004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VE rama: +$10.5M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10896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5468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30% Adopción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4728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VE rama: +$4M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88620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10% Adopción baja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2452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F4444"/>
                </a:solidFill>
                <a:latin typeface="Calibri"/>
              </a:rPr>
              <a:t>VE rama: -$2M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1600200"/>
            <a:ext cx="352044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61688" y="1600200"/>
            <a:ext cx="82296" cy="329184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173736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Opción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0528" y="1719072"/>
            <a:ext cx="1188720" cy="4572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1700784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$2.4M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0288" y="233172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237744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50% Adopción alta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267004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VE rama: +$4M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0288" y="310896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27448" y="315468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35% Adopción media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344728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VE rama: +$1.5M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90288" y="388620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27448" y="393192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15% Adopción baja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422452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F4444"/>
                </a:solidFill>
                <a:latin typeface="Calibri"/>
              </a:rPr>
              <a:t>VE rama: -$1M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1600200"/>
            <a:ext cx="352044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83296" y="1600200"/>
            <a:ext cx="82296" cy="329184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173736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Opción 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32136" y="1719072"/>
            <a:ext cx="1188720" cy="4572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32136" y="1700784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$3.6M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11896" y="233172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237744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45% Adopción alta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267004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VE rama: +$6.5M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1896" y="310896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6" y="315468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40% Adopción 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344728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VE rama: +$2.5M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11896" y="3886200"/>
            <a:ext cx="306324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49056" y="393192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15% Adopción baja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056" y="422452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F4444"/>
                </a:solidFill>
                <a:latin typeface="Calibri"/>
              </a:rPr>
              <a:t>VE rama: -$1.5M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074920"/>
            <a:ext cx="10927080" cy="1097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166360"/>
            <a:ext cx="3657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RESUMEN — VALOR ESPERADO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544068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Opción 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571500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$6.1M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614476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59E0B"/>
                </a:solidFill>
                <a:latin typeface="Calibri"/>
              </a:rPr>
              <a:t>MEJOR 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44068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Opción 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71500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$2.4M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5440680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Opción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71500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$3.6M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Competidores Internacionales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Posicionamiento de Parkings Together frente a plataformas P2P de estacionamiento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10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6517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82296" cy="41148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6420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SpotHero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🇺🇸 EE.UU.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Cobertura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42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★★★★☆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44952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Reserva en vivo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440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★★☆☆☆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66744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Pago integrado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88536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Precio accesible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0799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★★★★☆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10328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API / datos propios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9784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★★★☆☆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38144" y="1554480"/>
            <a:ext cx="26517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38144" y="1554480"/>
            <a:ext cx="82296" cy="41148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166420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JustPark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202996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🇬🇧 R. Unido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2423160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Cobertura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1024" y="2642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★★★★☆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1024" y="3044952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Reserva en vivo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326440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★★★☆☆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1024" y="3666744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Pago integrado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1024" y="388620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★★★★☆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4288536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Precio accesible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50799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★★★☆☆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1024" y="4910328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API / datos propios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1024" y="5129784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★★★★☆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1554480"/>
            <a:ext cx="26517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36208" y="1554480"/>
            <a:ext cx="82296" cy="41148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166420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EasyPark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202996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🇸🇪 Suecia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2423160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Cobertura local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2642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★★★☆☆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044952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Reserva en vivo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326440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★★★☆☆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666744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Pago integrado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388620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★★★★★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4288536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Precio accesible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50799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★★★☆☆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4910328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API / datos propios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5129784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★★★☆☆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34272" y="1554480"/>
            <a:ext cx="2651760" cy="411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34272" y="1554480"/>
            <a:ext cx="82296" cy="41148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7152" y="166420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Parkings Together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202996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🇨🇱 Chile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2423160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Cobertura local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17152" y="2642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★★★★★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17152" y="3044952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Reserva en vivo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2" y="326440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★★★★★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7152" y="3666744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Pago integrado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388620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★★★★☆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17152" y="4288536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Precio accesible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17152" y="450799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★★★★★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17152" y="4910328"/>
            <a:ext cx="23774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API / datos propios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7152" y="5129784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★★★★★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5852160"/>
            <a:ext cx="10927080" cy="7772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5852160"/>
            <a:ext cx="105156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★ DIFERENCIADOR: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Parkings Together es la única opción con cobertura local chilena profunda, reserva en tiempo real sobre PostGIS y modelo freemium que nunca cobra suscripción obligatoria al conductor.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FACTIBILIDAD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Estudios de Factibilidad TELOS — Opción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Evaluación en 5 dimensiones: Técnica, Económica, Legal, Operacional y Scheduling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11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109270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7498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00200"/>
            <a:ext cx="20116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TÉCNICA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1783080"/>
            <a:ext cx="1188720" cy="3840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764792"/>
            <a:ext cx="1188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91/100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00200"/>
            <a:ext cx="731520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Stack maduro: Next.js 14 + Supabase (PostGIS, RLS, Realtime). MVP ya operativo con 66 tests verdes.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41448"/>
            <a:ext cx="109270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441448"/>
            <a:ext cx="82296" cy="7498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41448"/>
            <a:ext cx="20116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ECONÓMICA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2624328"/>
            <a:ext cx="118872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2606040"/>
            <a:ext cx="1188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74/100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441448"/>
            <a:ext cx="731520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Inversión inicial ~$8M CLP. Modelo freemium + comisión. ROI positivo estimado mes 16.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82696"/>
            <a:ext cx="109270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282696"/>
            <a:ext cx="82296" cy="7498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282696"/>
            <a:ext cx="20116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LEGAL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3465576"/>
            <a:ext cx="1188720" cy="3840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3447288"/>
            <a:ext cx="1188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94/100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282696"/>
            <a:ext cx="731520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Sin restricciones en Chile. Ley 19.628 cumplida vía RLS. Pagos con Webpay/Transbank en producción.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23944"/>
            <a:ext cx="109270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123944"/>
            <a:ext cx="82296" cy="7498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123944"/>
            <a:ext cx="20116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OPERACIONAL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4306824"/>
            <a:ext cx="1188720" cy="3840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4288536"/>
            <a:ext cx="1188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83/100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123944"/>
            <a:ext cx="731520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Equipo con dominio del stack. Git con ramas, CI y documentación técnica desde el inicio.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65192"/>
            <a:ext cx="109270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4965192"/>
            <a:ext cx="82296" cy="7498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965192"/>
            <a:ext cx="20116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SCHEDULING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5148072"/>
            <a:ext cx="1188720" cy="3840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5129784"/>
            <a:ext cx="1188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80/100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965192"/>
            <a:ext cx="731520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MVP en 12 semanas. Ruta crítica en motor de reservas (Saga). Buffers de contingencia incluidos.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897880"/>
            <a:ext cx="10927080" cy="5486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97880"/>
            <a:ext cx="105156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0B981"/>
                </a:solidFill>
                <a:latin typeface="Calibri"/>
              </a:rPr>
              <a:t>Puntaje compuesto TELOS: 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Opción A = 88/100   |   Opción B = 60/100   |   Opción C = 68/100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COSTO-BENEFICIO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Análisis Costo-Beneficio Detallado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Proyección financiera a 3 años — Opción A seleccionada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12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204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91640"/>
            <a:ext cx="82296" cy="1600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3520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563EB"/>
                </a:solidFill>
                <a:latin typeface="Calibri"/>
              </a:rPr>
              <a:t>$8M CLP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Inversión inicial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691640"/>
            <a:ext cx="35204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1688" y="1691640"/>
            <a:ext cx="82296" cy="1600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965960"/>
            <a:ext cx="3520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563EB"/>
                </a:solidFill>
                <a:latin typeface="Calibri"/>
              </a:rPr>
              <a:t>Mes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69748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Break-even estimado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691640"/>
            <a:ext cx="35204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6" y="1691640"/>
            <a:ext cx="82296" cy="1600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1965960"/>
            <a:ext cx="3520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563EB"/>
                </a:solidFill>
                <a:latin typeface="Calibri"/>
              </a:rPr>
              <a:t>31%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69748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TIR a 3 años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74720"/>
            <a:ext cx="35204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474720"/>
            <a:ext cx="82296" cy="160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3520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B981"/>
                </a:solidFill>
                <a:latin typeface="Calibri"/>
              </a:rPr>
              <a:t>$5.4M CLP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VAN a 3 años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474720"/>
            <a:ext cx="35204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1688" y="3474720"/>
            <a:ext cx="82296" cy="160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749040"/>
            <a:ext cx="3520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B981"/>
                </a:solidFill>
                <a:latin typeface="Calibri"/>
              </a:rPr>
              <a:t>$2.6M CLP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48056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Ingresos Año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474720"/>
            <a:ext cx="35204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6" y="3474720"/>
            <a:ext cx="82296" cy="160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3296" y="3749040"/>
            <a:ext cx="3520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B981"/>
                </a:solidFill>
                <a:latin typeface="Calibri"/>
              </a:rPr>
              <a:t>$28M CLP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448056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Ingresos Año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440680"/>
            <a:ext cx="1092708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440680"/>
            <a:ext cx="82296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504688"/>
            <a:ext cx="105156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Supuestos: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modelo freemium (conductor reserva gratis, comisión ~8% incluida) + suscripciones de arrendador. Base 800 usuarios → 6% conversión Pro año 1. Crecimiento orgánico 35% anual. Costo marginal por reserva cercano a cero (BaaS).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GESTIÓN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Matriz de Riesgos — Opción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Probabilidad × Impacto + plan de mitigación por cada riesgo identificado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13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73152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645920"/>
            <a:ext cx="320040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64592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Riesgo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118872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645920"/>
            <a:ext cx="118872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6459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645920"/>
            <a:ext cx="461772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645920"/>
            <a:ext cx="4526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Mitigación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03120"/>
            <a:ext cx="731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103120"/>
            <a:ext cx="594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R1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103120"/>
            <a:ext cx="3200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2103120"/>
            <a:ext cx="3063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Service key expuesta en git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10312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1031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Alta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10312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1031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Alto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103120"/>
            <a:ext cx="4617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9168" y="2103120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Rotar clave en Supabase + mover a secrets de Vercel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560320"/>
            <a:ext cx="731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2560320"/>
            <a:ext cx="594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R2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5603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1328" y="2560320"/>
            <a:ext cx="3063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Pagos hoy simulados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5603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25603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Alta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5603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25603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Alto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2560320"/>
            <a:ext cx="4617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2560320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Integrar Webpay (Transbank) antes de producción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3017520"/>
            <a:ext cx="594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R3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3017520"/>
            <a:ext cx="3200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81328" y="3017520"/>
            <a:ext cx="3063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Adopción lenta de arrendadores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01752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30175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Media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301752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30175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Alto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3017520"/>
            <a:ext cx="4617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3017520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Incentivos de lanzamiento + comisión baja inicial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3474720"/>
            <a:ext cx="731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3474720"/>
            <a:ext cx="594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R4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0" y="34747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81328" y="3474720"/>
            <a:ext cx="3063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Dependencia del BaaS (Supabase)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34747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17720" y="34747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Media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34747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06440" y="34747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Medio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3474720"/>
            <a:ext cx="4617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9168" y="3474720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Migraciones SQL versionadas + export periódico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3931920"/>
            <a:ext cx="731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" y="3931920"/>
            <a:ext cx="594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R5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3931920"/>
            <a:ext cx="3200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81328" y="3931920"/>
            <a:ext cx="3063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Cambios de estructura en geocoding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393192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39319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Baja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0" y="393192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06440" y="3931920"/>
            <a:ext cx="1097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Bajo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3931920"/>
            <a:ext cx="4617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59168" y="3931920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Fallback de timeout + cache de regiones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212080"/>
            <a:ext cx="10927080" cy="914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0080" y="5212080"/>
            <a:ext cx="82296" cy="9144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5285232"/>
            <a:ext cx="105156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F4444"/>
                </a:solidFill>
                <a:latin typeface="Calibri"/>
              </a:rPr>
              <a:t>Riesgo crítico priorizado (R1):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la SUPABASE_SERVICE_ROLE_KEY quedó expuesta en el historial de git. Acción obligatoria antes del deploy: rotar la clave en Supabase y nunca commitearla ni exponerla en el cliente.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Arquitectura Técnica del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Patrón BFF en capas y flujo de datos de Parkings Together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14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265176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2697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Next.js 14 (App Router)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React + styled-jsx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Leaflet + MarkerCluster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GPS + Realtime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651760"/>
            <a:ext cx="320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1600200"/>
            <a:ext cx="265176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600200"/>
            <a:ext cx="82296" cy="2697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1600200"/>
            <a:ext cx="265176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BFF /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224028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Route Handlers /api/*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JWT → RLS auth.uid()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Timeout + fallback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Mismo origen (sin 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51760"/>
            <a:ext cx="320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600200"/>
            <a:ext cx="265176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8" y="1600200"/>
            <a:ext cx="82296" cy="2697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8" y="1600200"/>
            <a:ext cx="26517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24028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PostgreSQL 16 + PostGIS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RLS en todas las tablas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RPC geoespacial + Saga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Realtime +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651760"/>
            <a:ext cx="320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1600200"/>
            <a:ext cx="265176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34272" y="1600200"/>
            <a:ext cx="82296" cy="269748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34272" y="1600200"/>
            <a:ext cx="2651760" cy="4572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224028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Supabase Cloud (us-east-2)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Vercel (web + BFF)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Turborepo monorepo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Git + CI por ramas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26280"/>
            <a:ext cx="10927080" cy="114300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61772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FLUJO DE DATOS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029200"/>
            <a:ext cx="1874519" cy="5029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029200"/>
            <a:ext cx="17373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1. GPS / búsqueda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502920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5029200"/>
            <a:ext cx="1874519" cy="5029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5029200"/>
            <a:ext cx="17373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2. RPC PostGIS radio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502920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5029200"/>
            <a:ext cx="1874519" cy="5029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5029200"/>
            <a:ext cx="17373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3. Saga reserva (3 pasos)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02920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5029200"/>
            <a:ext cx="1874519" cy="5029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5029200"/>
            <a:ext cx="17373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4. Pago + RLS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02920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64040" y="5029200"/>
            <a:ext cx="1874519" cy="5029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5480" y="5029200"/>
            <a:ext cx="17373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5. Realtime al mapa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INFRA: Vercel + Supabase · Turborepo · GitHub (ramas feature) · entorno local → producción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FLUJO DE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Diagrama de Flujo — Motor de Reservas (Saga)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Proceso interno desde la solicitud hasta la confirmación atómica de la reserva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15 / 40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03120"/>
            <a:ext cx="1417320" cy="11887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INICIO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Usuario solicita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reserva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51460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2942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30552" y="2103120"/>
            <a:ext cx="1417320" cy="11887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Verifica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disponibilidad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(GET)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51460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2942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8184" y="2103120"/>
            <a:ext cx="141732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Paso 1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spot_lock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(5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51460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2942"/>
                </a:solidFill>
                <a:latin typeface="Calibri"/>
              </a:rPr>
              <a:t>→</a:t>
            </a:r>
          </a:p>
        </p:txBody>
      </p:sp>
      <p:sp>
        <p:nvSpPr>
          <p:cNvPr id="16" name="Diamond 15"/>
          <p:cNvSpPr/>
          <p:nvPr/>
        </p:nvSpPr>
        <p:spPr>
          <a:xfrm>
            <a:off x="5385816" y="2103120"/>
            <a:ext cx="1417320" cy="1188720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¿Lock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vigente?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51460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2942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13448" y="2103120"/>
            <a:ext cx="141732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Paso 2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Pago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simulado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1460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2942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103120"/>
            <a:ext cx="141732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Paso 3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Confirma +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libera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112" y="251460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2942"/>
                </a:solidFill>
                <a:latin typeface="Calibri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268712" y="2103120"/>
            <a:ext cx="1417320" cy="11887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FIN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Reserva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activa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794760"/>
            <a:ext cx="31089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91840" y="3794760"/>
            <a:ext cx="82296" cy="7772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858768"/>
            <a:ext cx="28346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F4444"/>
                </a:solidFill>
                <a:latin typeface="Calibri"/>
              </a:rPr>
              <a:t>NO →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Lock expiró: rollback completo, se libera el cupo y el conductor reintenta.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02920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029200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Inicio/Fin</a:t>
            </a:r>
          </a:p>
        </p:txBody>
      </p:sp>
      <p:sp>
        <p:nvSpPr>
          <p:cNvPr id="28" name="Oval 27"/>
          <p:cNvSpPr/>
          <p:nvPr/>
        </p:nvSpPr>
        <p:spPr>
          <a:xfrm>
            <a:off x="3017520" y="502920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5029200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Proceso</a:t>
            </a:r>
          </a:p>
        </p:txBody>
      </p:sp>
      <p:sp>
        <p:nvSpPr>
          <p:cNvPr id="30" name="Oval 29"/>
          <p:cNvSpPr/>
          <p:nvPr/>
        </p:nvSpPr>
        <p:spPr>
          <a:xfrm>
            <a:off x="5394960" y="50292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79008" y="5029200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Motor Saga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502920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5029200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Decisión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77840"/>
            <a:ext cx="10927080" cy="7772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577840"/>
            <a:ext cx="105156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0B981"/>
                </a:solidFill>
                <a:latin typeface="Calibri"/>
              </a:rPr>
              <a:t>Patrón Saga: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3 funciones RPC en PostgreSQL garantizan que una reserva sea atómica. Si cualquier paso falla, se revierte todo — esto evita la doble reserva de una misma plaza bajo concurrencia.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PLANIFICACIÓN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Cronograma Gantt — MVP 12 Semanas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Ruta crítica e hitos del proyecto de implementación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16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15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5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11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11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03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3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99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99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91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91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087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87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79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79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375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37520" y="1764792"/>
            <a:ext cx="60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47120" y="1783080"/>
            <a:ext cx="9525" cy="4297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075688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Setup monorepo + Supabase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44620" y="2130552"/>
            <a:ext cx="58420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478024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Esquema BD + RLS + PostGIS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54220" y="2532888"/>
            <a:ext cx="119380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880360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Auth + registro multi-paso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63820" y="2935224"/>
            <a:ext cx="119380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282696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Mapa Leaflet + búsqueda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73420" y="3337560"/>
            <a:ext cx="119380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685032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Motor de reservas (Saga)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3020" y="3739896"/>
            <a:ext cx="1803400" cy="2743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087368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BFF /api + favoritos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02220" y="4142232"/>
            <a:ext cx="119380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489704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Premium + ranking por zona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11820" y="4544568"/>
            <a:ext cx="1193800" cy="274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892040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Pruebas unitarias (66)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1420" y="4946904"/>
            <a:ext cx="119380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294376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Documentación técnica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31020" y="5349240"/>
            <a:ext cx="1193800" cy="2743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696712"/>
            <a:ext cx="32461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Demo + cierre + defensa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40620" y="5751576"/>
            <a:ext cx="119380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iamond 54"/>
          <p:cNvSpPr/>
          <p:nvPr/>
        </p:nvSpPr>
        <p:spPr>
          <a:xfrm>
            <a:off x="6251448" y="6117336"/>
            <a:ext cx="237744" cy="23774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21680" y="6373368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59E0B"/>
                </a:solidFill>
                <a:latin typeface="Calibri"/>
              </a:rPr>
              <a:t>MVP α</a:t>
            </a:r>
          </a:p>
        </p:txBody>
      </p:sp>
      <p:sp>
        <p:nvSpPr>
          <p:cNvPr id="57" name="Diamond 56"/>
          <p:cNvSpPr/>
          <p:nvPr/>
        </p:nvSpPr>
        <p:spPr>
          <a:xfrm>
            <a:off x="8689848" y="6117336"/>
            <a:ext cx="237744" cy="23774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60080" y="6373368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59E0B"/>
                </a:solidFill>
                <a:latin typeface="Calibri"/>
              </a:rPr>
              <a:t>MVP β</a:t>
            </a:r>
          </a:p>
        </p:txBody>
      </p:sp>
      <p:sp>
        <p:nvSpPr>
          <p:cNvPr id="59" name="Diamond 58"/>
          <p:cNvSpPr/>
          <p:nvPr/>
        </p:nvSpPr>
        <p:spPr>
          <a:xfrm>
            <a:off x="11128248" y="6117336"/>
            <a:ext cx="237744" cy="237744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98480" y="6373368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59E0B"/>
                </a:solidFill>
                <a:latin typeface="Calibri"/>
              </a:rPr>
              <a:t>ENTREGA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6080760"/>
            <a:ext cx="1092708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0080" y="6080760"/>
            <a:ext cx="82296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6080760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F4444"/>
                </a:solidFill>
                <a:latin typeface="Calibri"/>
              </a:rPr>
              <a:t>Ruta crítica (rojo):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el motor de reservas Saga (S5–S7) es el cuello de botella; concentra el mayor riesgo técnico del proyecto.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MVP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MVP Funcional — Estructura de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Componentes implementados y código real del motor de reservas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17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840480" cy="416052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3474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📁 ESTRUCTURA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352044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parkings-together/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├── apps/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├── web/            ← Next.js + BFF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│   ├── app/api/    ← route handlers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│   ├── app/mapa/   ← mapa Leaflet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│   ├── src/lib/    ← api, pricing,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│   │              planes, geocoding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│   └── tests/      ← 66 tests Jest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└── ms-*/           ← microservicios ref.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├── packages/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│   └── supabase-db/    ← cliente + guards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├── sql/                ← 11 migraciones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├── docs/               ← documentación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BD5E1"/>
                </a:solidFill>
                <a:latin typeface="Calibri"/>
              </a:rPr>
              <a:t>  └── INFORME_TECNICO.md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600200"/>
            <a:ext cx="6949440" cy="4160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// saga_reserva — RPC PostgreSQL (Paso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03120"/>
            <a:ext cx="658368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CREATE FUNCTION saga_reserva_step1_lock(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p_estacionamiento_id uuid,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p_conductor_id uuid,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p_fecha_inicio timestamptz,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p_fecha_fin timestamptz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) RETURNS uuid AS $$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DECLARE v_lock_id uuid;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BEGIN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-- evita doble reserva en el mismo horario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IF EXISTS (SELECT 1 FROM reservas 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     WHERE r.estacionamiento_id = p_estacionamiento_id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       AND r.estado IN ('activa','confirmada')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       AND tstzrange(r.fecha_inicio, r.fecha_fin)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         &amp;&amp; tstzrange(p_fecha_inicio, p_fecha_fin))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THEN RAISE EXCEPTION 'Plaza no disponible'; END IF;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INSERT INTO spot_locks(estacionamiento_id, conductor_id,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                       expira_en)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VALUES (p_estacionamiento_id, p_conductor_id,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        now() + interval '5 minutes')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RETURNING id INTO v_lock_id;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  RETURN v_lock_id;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E2E8F0"/>
                </a:solidFill>
                <a:latin typeface="Calibri"/>
              </a:rPr>
              <a:t>END; $$ LANGUAGE plpgsql SECURITY DEFINER;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97880"/>
            <a:ext cx="265176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897880"/>
            <a:ext cx="82296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2651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Next.js 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8144" y="5897880"/>
            <a:ext cx="265176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38144" y="5897880"/>
            <a:ext cx="82296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5897880"/>
            <a:ext cx="2651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Supabase + PostGIS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5897880"/>
            <a:ext cx="265176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8" y="5897880"/>
            <a:ext cx="82296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5897880"/>
            <a:ext cx="2651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styled-jsx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5897880"/>
            <a:ext cx="265176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34272" y="5897880"/>
            <a:ext cx="82296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272" y="5897880"/>
            <a:ext cx="2651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Jest 30 · 66 tests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Business Model Canvas — Simplificado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Estructura de valor, clientes, canales e ingresos de Parkings Together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18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148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82296" cy="201168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09344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Asociaciones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01952"/>
            <a:ext cx="1965960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Supabase / Vercel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Municipios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Empresas con flota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Pasarela Webpay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554480"/>
            <a:ext cx="21488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4640" y="1554480"/>
            <a:ext cx="82296" cy="9601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1609344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Actividades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1901952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Desarrollo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Geo-matching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Soporte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606040"/>
            <a:ext cx="21488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34640" y="2606040"/>
            <a:ext cx="82296" cy="9601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660904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Recursos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2953512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MVP + código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PostGIS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Equipo dev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554480"/>
            <a:ext cx="2148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0" y="155448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1609344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Propuesta de Valor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1901952"/>
            <a:ext cx="1965960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Plaza en tiempo real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Conductor reserva gratis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Precio claro (~8% incl.)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Arrendador monetiza ocioso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Ranking por zona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1554480"/>
            <a:ext cx="21488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60" y="1554480"/>
            <a:ext cx="82296" cy="9601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1609344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Relación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1901952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Self-service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Gamificación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Soporte chat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2606040"/>
            <a:ext cx="21488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23760" y="2606040"/>
            <a:ext cx="82296" cy="9601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3488" y="2660904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Canales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953512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Web app / PWA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Mapa interactivo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Redes sociales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1554480"/>
            <a:ext cx="2148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18320" y="155448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1609344"/>
            <a:ext cx="1965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Segmentos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8048" y="1901952"/>
            <a:ext cx="1965960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Conductores urbanos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Arrendadores particulares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Empresas / municipios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657600"/>
            <a:ext cx="5440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3657600"/>
            <a:ext cx="82296" cy="12344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3712464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F4444"/>
                </a:solidFill>
                <a:latin typeface="Calibri"/>
              </a:rPr>
              <a:t>Estructura de Costos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005072"/>
            <a:ext cx="5257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BaaS Supabase + Vercel (bajo costo marginal)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Equipo de desarrollo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Pasarela de pago (% Webpay)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F4444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Marketing de adquisición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657600"/>
            <a:ext cx="53949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72200" y="3657600"/>
            <a:ext cx="82296" cy="12344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3712464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Fuentes de Ingresos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8" y="4005072"/>
            <a:ext cx="52120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Comisión ~8% por reserva (incluida en precio)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Conductor Pro $2.990/mes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Arrendador Plus $4.990 / Pro $7.990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880" b="0" i="0">
                <a:solidFill>
                  <a:srgbClr val="1E293B"/>
                </a:solidFill>
                <a:latin typeface="Calibri"/>
              </a:rPr>
              <a:t>Convenios B2B corporativos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KPIs y Métricas de Éxito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Indicadores clave para medir el avance del MVP y del producto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19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34924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2148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2377440" cy="38404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2377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KPIs TÉCNICOS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03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Uptime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40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≥ 99.5%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Latencia búsqueda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40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&lt; 2 seg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Cobertura de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18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≥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880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Reservas Saga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118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≥ 99%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00200"/>
            <a:ext cx="534924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600200"/>
            <a:ext cx="82296" cy="2148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600200"/>
            <a:ext cx="2377440" cy="3840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600200"/>
            <a:ext cx="2377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KPIs DE PRODUCTO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03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Usuarios activos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40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B981"/>
                </a:solidFill>
                <a:latin typeface="Calibri"/>
              </a:rPr>
              <a:t>800+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03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Reservas / usuario·mes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340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B981"/>
                </a:solidFill>
                <a:latin typeface="Calibri"/>
              </a:rPr>
              <a:t>≥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80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NPS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118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B981"/>
                </a:solidFill>
                <a:latin typeface="Calibri"/>
              </a:rPr>
              <a:t>≥ 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80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Retención 30 días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118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0B981"/>
                </a:solidFill>
                <a:latin typeface="Calibri"/>
              </a:rPr>
              <a:t>≥ 35%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886200"/>
            <a:ext cx="534924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3886200"/>
            <a:ext cx="82296" cy="21488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3886200"/>
            <a:ext cx="237744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86200"/>
            <a:ext cx="2377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KPIs FINANCIEROS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389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MRR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26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59E0B"/>
                </a:solidFill>
                <a:latin typeface="Calibri"/>
              </a:rPr>
              <a:t>$3M CLP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4389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CAC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626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59E0B"/>
                </a:solidFill>
                <a:latin typeface="Calibri"/>
              </a:rPr>
              <a:t>&lt; $8.000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166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LTV 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404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59E0B"/>
                </a:solidFill>
                <a:latin typeface="Calibri"/>
              </a:rPr>
              <a:t>≥ $90.000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166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Conversión Free→Pro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404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59E0B"/>
                </a:solidFill>
                <a:latin typeface="Calibri"/>
              </a:rPr>
              <a:t>≥ 6%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886200"/>
            <a:ext cx="534924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17920" y="3886200"/>
            <a:ext cx="82296" cy="214884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17920" y="3886200"/>
            <a:ext cx="2377440" cy="384048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886200"/>
            <a:ext cx="2377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KPIs DE IMPACTO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389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Plazas publicadas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626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64748B"/>
                </a:solidFill>
                <a:latin typeface="Calibri"/>
              </a:rPr>
              <a:t>≥ 300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438912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Comunas cubiertas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62686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64748B"/>
                </a:solidFill>
                <a:latin typeface="Calibri"/>
              </a:rPr>
              <a:t>≥ 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166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Tiempo ahorrado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404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64748B"/>
                </a:solidFill>
                <a:latin typeface="Calibri"/>
              </a:rPr>
              <a:t>≥ 8 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5166360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Ocupación media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540410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64748B"/>
                </a:solidFill>
                <a:latin typeface="Calibri"/>
              </a:rPr>
              <a:t>≥ 45%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Metas calibradas con el benchmarking de plataformas P2P y el tamaño del mercado local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PROYECCIONES IL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Implicancias y Proyecciones en 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Análisis reflexivo de expectativas por horizonte temporal para los stakeholders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20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52044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4069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35204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45920"/>
            <a:ext cx="3520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CORTO PLAZO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38528"/>
            <a:ext cx="3520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0–6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23160"/>
            <a:ext cx="3108960" cy="2468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MVP desplegado en producción (Vercel)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Webpay integrado (pagos reales)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500–800 usuarios en RM y O'Higgins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Plazas reales publicadas por arrendadores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Documentación técnica v2 completa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29200"/>
            <a:ext cx="320040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47488"/>
            <a:ext cx="301752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F4444"/>
                </a:solidFill>
                <a:latin typeface="Calibri"/>
              </a:rPr>
              <a:t>⚠ </a:t>
            </a:r>
            <a:r>
              <a:rPr sz="900" b="0" i="1">
                <a:solidFill>
                  <a:srgbClr val="1E293B"/>
                </a:solidFill>
                <a:latin typeface="Calibri"/>
              </a:rPr>
              <a:t>Latencia en geoconsultas con alta demanda simultánea.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600200"/>
            <a:ext cx="352044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1688" y="1600200"/>
            <a:ext cx="82296" cy="4069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61688" y="1600200"/>
            <a:ext cx="352044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645920"/>
            <a:ext cx="3520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MEDIANO PLAZO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938528"/>
            <a:ext cx="3520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6–18 meses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108960" cy="2468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Cobertura en 15+ comunas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Freemium activo, conversión Pro ≥ 6%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Convenios con 3 empresas para flotas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Primeros ingresos recurrentes (MRR $1M)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App móvil nativa (React Native)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44568" y="5029200"/>
            <a:ext cx="320040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5047488"/>
            <a:ext cx="301752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F4444"/>
                </a:solidFill>
                <a:latin typeface="Calibri"/>
              </a:rPr>
              <a:t>⚠ </a:t>
            </a:r>
            <a:r>
              <a:rPr sz="900" b="0" i="1">
                <a:solidFill>
                  <a:srgbClr val="1E293B"/>
                </a:solidFill>
                <a:latin typeface="Calibri"/>
              </a:rPr>
              <a:t>Sostenibilidad económica durante la expansión.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1600200"/>
            <a:ext cx="352044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83296" y="1600200"/>
            <a:ext cx="82296" cy="4069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83296" y="1600200"/>
            <a:ext cx="35204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1645920"/>
            <a:ext cx="3520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LARGO PLAZO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1938528"/>
            <a:ext cx="3520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18–36 meses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2423160"/>
            <a:ext cx="3108960" cy="2468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Expansión a regiones y a 1 país LATAM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8.000+ usuarios activos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Alertas de disponibilidad en tiempo real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Licencias B2B para municipios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Ronda de inversión seed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6" y="5029200"/>
            <a:ext cx="320040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5047488"/>
            <a:ext cx="301752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F4444"/>
                </a:solidFill>
                <a:latin typeface="Calibri"/>
              </a:rPr>
              <a:t>⚠ </a:t>
            </a:r>
            <a:r>
              <a:rPr sz="900" b="0" i="1">
                <a:solidFill>
                  <a:srgbClr val="1E293B"/>
                </a:solidFill>
                <a:latin typeface="Calibri"/>
              </a:rPr>
              <a:t>Entrada de un competidor con mayor capital.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Proyecciones basadas en benchmarking de SpotHero/JustPark ajustado al mercado chileno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MONETIZACIÓN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Plan de Monetización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Modelo freemium: el conductor reserva gratis; ingresos por comisión y suscripciones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21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265176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402336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2651760" cy="4572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GRATUITO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$0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80360"/>
            <a:ext cx="22860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Búsqueda y reserva ilimitadas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Comisión ~8% incluida en precio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Reseñas y favoritos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Ranking de plazas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22860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Captación masiva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8144" y="1600200"/>
            <a:ext cx="265176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38144" y="1600200"/>
            <a:ext cx="82296" cy="4023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38144" y="1600200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CONDUCTOR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19456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$2.990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/mes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880360"/>
            <a:ext cx="22860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Sin tarifa de servicio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Reserva anticipada 30 días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Alertas de disponibilidad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Insignia Pro + soporte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21024" y="5074920"/>
            <a:ext cx="22860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5074920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Conductor frecuente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600200"/>
            <a:ext cx="265176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1600200"/>
            <a:ext cx="82296" cy="40233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36208" y="1600200"/>
            <a:ext cx="265176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ARRENDADOR PLUS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19456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$4.990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/mes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2880360"/>
            <a:ext cx="22860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Hasta 10 estacionamientos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Comisión reducida 8%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Destacado ⭐ en el mapa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Analítica de ingresos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5074920"/>
            <a:ext cx="22860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5074920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Arrendador en crecimiento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1600200"/>
            <a:ext cx="265176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34272" y="1600200"/>
            <a:ext cx="82296" cy="40233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34272" y="1600200"/>
            <a:ext cx="26517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4272" y="160020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ARRENDADOR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219456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$7.990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/mes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880360"/>
            <a:ext cx="22860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Estacionamientos ilimitados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Comisión mínima 5%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Insignia verificado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Soporte 24/7 + reportes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17152" y="5074920"/>
            <a:ext cx="22860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152" y="5074920"/>
            <a:ext cx="2286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Máximo rendimiento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Principio de diseño: el conductor nunca paga suscripción obligatoria (modelo SpotHero / JustPark)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DOCUMENTACIÓN IL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Documentación Final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Estructura del informe de cierre según estándares de la industria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22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5564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📋 Resumen Ejecutivo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12848"/>
            <a:ext cx="3108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½ plana máximo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Decisión y justificación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Datos financieros clave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Beneficios para la organización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64592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1688" y="164592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5564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🏢 Contexto Organizacional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3108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Descripción de Dareko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Problema identificado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Objetivos del proyecto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Stakeholders involucrados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64592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6" y="164592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75564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🔍 Análisis Comparativo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212848"/>
            <a:ext cx="3108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Tabla 3 opciones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Factibilidad TELOS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Matriz de Pugh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Árbol y benchmarking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84048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5020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📐 Diseño Técnico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07408"/>
            <a:ext cx="3108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Arquitectura BFF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Flujo de datos Saga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Stack justificado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MVP real descrito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84048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1688" y="384048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395020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📊 Proyecciones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407408"/>
            <a:ext cx="3108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Cronograma Gantt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Costos detallados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Usuarios/ingresos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KPIs de éxito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840480"/>
            <a:ext cx="35204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6" y="3840480"/>
            <a:ext cx="82296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95020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📎 Referencias APA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4407408"/>
            <a:ext cx="3108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Bibliografía APA 7ª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Fuentes de datos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Glosario técnico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INFORME_TECNICO.md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El repositorio incluye INFORME_TECNICO.md y la carpeta docs/ con la documentación completa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FORMATO 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Formato del Informe de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Especificaciones técnicas y estructura según las instrucciones de la evaluación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23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21208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4160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ESPECIFICACIONES DE FORMATO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Documento: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94560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PDF (entrega obligatoria)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2432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Fuente: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24328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Arial o Times New Roman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Tamaño: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054096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12 pt en el cuerpo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8386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Interlineado: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483864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1.5 líneas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1363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Márgenes: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913632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2.5 cm en todos los lados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Extensión máxima: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343400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6 planas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7316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Citas: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773168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Formato APA 7ª edición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0293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Referencias: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202936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Lista al final del documento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1600200"/>
            <a:ext cx="54864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80760" y="1600200"/>
            <a:ext cx="82296" cy="4160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ESTRUCTURA SUGERIDA (6 PLANAS)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194560"/>
            <a:ext cx="9144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194560"/>
            <a:ext cx="914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Pág.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194560"/>
            <a:ext cx="4023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Portada + Resumen ejecutivo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743200"/>
            <a:ext cx="9144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743200"/>
            <a:ext cx="914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Pág.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2743200"/>
            <a:ext cx="4023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Contexto organizacional + Stakeholders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291840"/>
            <a:ext cx="9144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291840"/>
            <a:ext cx="914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Pág.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291840"/>
            <a:ext cx="4023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Análisis comparativo de opciones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3840480"/>
            <a:ext cx="9144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840480"/>
            <a:ext cx="914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Pág.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3840480"/>
            <a:ext cx="4023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Factibilidad TELOS + Costo-beneficio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389120"/>
            <a:ext cx="9144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389120"/>
            <a:ext cx="914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Pág.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4389120"/>
            <a:ext cx="4023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Arquitectura técnica + Cronograma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937760"/>
            <a:ext cx="9144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937760"/>
            <a:ext cx="914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Pág. 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4937760"/>
            <a:ext cx="4023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Proyecciones + Conclusión + Referencias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897880"/>
            <a:ext cx="10927080" cy="5486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897880"/>
            <a:ext cx="105156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F59E0B"/>
                </a:solidFill>
                <a:latin typeface="Calibri"/>
              </a:rPr>
              <a:t>Ejemplo APA:  </a:t>
            </a:r>
            <a:r>
              <a:rPr sz="1050" b="0" i="1">
                <a:solidFill>
                  <a:srgbClr val="FFFFFF"/>
                </a:solidFill>
                <a:latin typeface="Calibri"/>
              </a:rPr>
              <a:t>Supabase Inc. (2025). Supabase documentation. https://supabase.com/docs   ·   Vercel Inc. (2025). Next.js documentation. https://nextjs.org/docs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DEMO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Demo MVP — Pantallas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Vistas funcionales reales del sistema — prototipo navegable en producción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24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82296" cy="4114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3520440" cy="457200"/>
          </a:xfrm>
          <a:prstGeom prst="round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645920"/>
            <a:ext cx="32461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Parkings Together — Mapa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40280"/>
            <a:ext cx="3154680" cy="2103120"/>
          </a:xfrm>
          <a:prstGeom prst="rect">
            <a:avLst/>
          </a:prstGeom>
          <a:solidFill>
            <a:srgbClr val="E0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45920" y="27432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34640" y="3291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0" y="265176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0" y="38404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83280" y="393192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60320" y="30632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04495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8056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Clúster de plazas · verde = disponible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92040"/>
            <a:ext cx="3154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VISTA: Mapa interactivo con GPS, búsqueda por radio (PostGIS) y filtros.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164592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1645920"/>
            <a:ext cx="82296" cy="4114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3400" y="1645920"/>
            <a:ext cx="3520440" cy="457200"/>
          </a:xfrm>
          <a:prstGeom prst="round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645920"/>
            <a:ext cx="32461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Detalle de Estacionamiento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240280"/>
            <a:ext cx="3154680" cy="1188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2377440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Parking USACH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269748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★ 4.7 · $1.200/h · disponible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301752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📷 galería con lightbox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3611880"/>
            <a:ext cx="2788920" cy="3840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611880"/>
            <a:ext cx="27889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Reservar ahora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4114800"/>
            <a:ext cx="2788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4114800"/>
            <a:ext cx="27889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Ver fotos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4617720"/>
            <a:ext cx="278892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617720"/>
            <a:ext cx="27889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Agregar a favoritos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25780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VISTA: Detalle de plaza + reserva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64592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0" y="1645920"/>
            <a:ext cx="82296" cy="4114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46720" y="1645920"/>
            <a:ext cx="3520440" cy="457200"/>
          </a:xfrm>
          <a:prstGeom prst="round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1645920"/>
            <a:ext cx="32461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Ranking por Zona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2331720"/>
            <a:ext cx="3063240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2331720"/>
            <a:ext cx="7315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🥇 1°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331720"/>
            <a:ext cx="1645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Las Condes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2331720"/>
            <a:ext cx="82296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★5.0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2898648"/>
            <a:ext cx="3063240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2898648"/>
            <a:ext cx="7315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🥈 2°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2898648"/>
            <a:ext cx="1645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Providencia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2898648"/>
            <a:ext cx="82296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★4.8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3465576"/>
            <a:ext cx="3063240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465576"/>
            <a:ext cx="7315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🥉 3°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465576"/>
            <a:ext cx="1645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Ñuñoa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9880" y="3465576"/>
            <a:ext cx="82296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★4.6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5320" y="4160520"/>
            <a:ext cx="3063240" cy="5029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4160520"/>
            <a:ext cx="30632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Filtrar por zona / vehículo / precio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84632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VISTA: Ranking por zona con podio y filtros geográficos.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Equipo del Proyecto y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Estructura del equipo Dareko para el desarrollo del MVP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25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5204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4206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352044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45920"/>
            <a:ext cx="3520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Tech Lead / Full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38528"/>
            <a:ext cx="3520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Integrante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7744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TAREAS ASIGNADAS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3108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Arquitectura BFF + monorepo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Esquema BD, RLS y PostGIS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Motor de reservas (Saga)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Revisión de código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74920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Next.js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5074920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5074920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Supabase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458968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58968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5458968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458968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Turborepo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1600200"/>
            <a:ext cx="35204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1688" y="1600200"/>
            <a:ext cx="82296" cy="4206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61688" y="1600200"/>
            <a:ext cx="35204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1645920"/>
            <a:ext cx="3520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Backend /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1938528"/>
            <a:ext cx="3520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Integrante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37744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TAREAS ASIGNADAS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2697480"/>
            <a:ext cx="3108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Route handlers /api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Migraciones SQL versionadas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Funciones RPC + seguridad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Pruebas unitarias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75488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STACK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0288" y="5074920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0288" y="5074920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PostgreSQL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0488" y="5074920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5074920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RLS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0288" y="5458968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5458968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Jest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0488" y="5458968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0488" y="5458968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PostGIS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3296" y="1600200"/>
            <a:ext cx="35204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83296" y="1600200"/>
            <a:ext cx="82296" cy="4206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83296" y="1600200"/>
            <a:ext cx="35204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83296" y="1645920"/>
            <a:ext cx="3520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Frontend / UX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296" y="1938528"/>
            <a:ext cx="3520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Integrante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6" y="237744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TAREAS ASIGNADAS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1896" y="2697480"/>
            <a:ext cx="3108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UI mapa Leaflet + lightbox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Registro multi-paso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Premium + ranking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Diseño responsive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1896" y="475488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STACK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11896" y="5074920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5074920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React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12096" y="5074920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12096" y="5074920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styled-jsx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11896" y="5458968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11896" y="5458968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Leaflet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12096" y="5458968"/>
            <a:ext cx="1508760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12096" y="5458968"/>
            <a:ext cx="15087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Metodología: Git con ramas feature · commits convencionales · revisión por PR · documentación continua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RÚBRICA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Rúbrica — Evaluación Parcial N°3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Informe Grupal (30%) + Defensa Oral Individual (70%)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26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219456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00200"/>
            <a:ext cx="2084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600200"/>
            <a:ext cx="182880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600200"/>
            <a:ext cx="17190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Nivel 1 (0–49%)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600200"/>
            <a:ext cx="17190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Nivel 2 (50–69%)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600200"/>
            <a:ext cx="182880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00200"/>
            <a:ext cx="17190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Nivel 3 (70–89%)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600200"/>
            <a:ext cx="233172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00200"/>
            <a:ext cx="222199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Nivel 4 (100%)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52760" y="1600200"/>
            <a:ext cx="914400" cy="45720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5912" y="1600200"/>
            <a:ext cx="8046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Pond.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0574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057400"/>
            <a:ext cx="208483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IL 3.1 — Implicancias
(grupal)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05740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2" y="205740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No identifica implicancias.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05740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05740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Análisis superficial.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05740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205740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Evalúa con fundamento.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057400"/>
            <a:ext cx="2331720" cy="8686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2057400"/>
            <a:ext cx="222199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Análisis profundo y reflexivo.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60" y="2057400"/>
            <a:ext cx="914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25912" y="2057400"/>
            <a:ext cx="8046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926080"/>
            <a:ext cx="219456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926080"/>
            <a:ext cx="208483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IL 3.2 — Técnicas
(grupal)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92608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2" y="292608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Sin técnicas reconocibles.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92608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292608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1–2 técnicas básicas.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92608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292608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3+ técnicas correctas.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2926080"/>
            <a:ext cx="2331720" cy="8686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2926080"/>
            <a:ext cx="222199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Pugh, FODA, TELOS, árbol sólidos.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52760" y="2926080"/>
            <a:ext cx="9144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25912" y="2926080"/>
            <a:ext cx="8046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30%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9476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794760"/>
            <a:ext cx="208483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IL 3.3 — Documentación
(grupal)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379476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07792" y="379476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Informe incompleto.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79476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36592" y="379476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Estructura básica.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79476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379476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Completo y claro.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3794760"/>
            <a:ext cx="2331720" cy="8686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2" y="3794760"/>
            <a:ext cx="222199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Profesional, persuasivo, con MVP.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52760" y="3794760"/>
            <a:ext cx="914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25912" y="3794760"/>
            <a:ext cx="8046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40%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663440"/>
            <a:ext cx="219456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4663440"/>
            <a:ext cx="208483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Defensa oral
(individual)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466344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07792" y="466344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No responde.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466344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36592" y="466344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Conocimiento superficial.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466344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65392" y="4663440"/>
            <a:ext cx="17190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Responde con claridad.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4663440"/>
            <a:ext cx="2331720" cy="8686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94192" y="4663440"/>
            <a:ext cx="222199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Domina todo + aporte real.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52760" y="4663440"/>
            <a:ext cx="9144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25912" y="4663440"/>
            <a:ext cx="8046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70%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943600"/>
            <a:ext cx="10927080" cy="548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0080" y="5943600"/>
            <a:ext cx="82296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5943600"/>
            <a:ext cx="105156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Para el 100% se debe demostrar dominio profundo, reflexión individual y documentación profesional — respaldada por un MVP real y verificable.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DEFENSA 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Banco de Preguntas — Defensa 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Prepara cada respuesta con evidencia concreta del proyecto Parkings Together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27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53492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810512"/>
            <a:ext cx="6400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92224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783080"/>
            <a:ext cx="4206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¿Qué criterios técnicos guiaron la decisión? ¿Cómo influyeron la factibilidad y las necesidades de la organización?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43200"/>
            <a:ext cx="498348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779776"/>
            <a:ext cx="4754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💡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Matriz de Pugh (A=4.41) + TELOS (A=88). A gana en escalabilidad (PostGIS) y control. Ya hay MVP real funcionando.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3492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810512"/>
            <a:ext cx="6400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92224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783080"/>
            <a:ext cx="4206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Justifique la selección. ¿Qué particularidades tiene la implementación? ¿Qué problema resuelve?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743200"/>
            <a:ext cx="498348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79776"/>
            <a:ext cx="4754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💡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Stack Next.js + Supabase. Resuelve: escasez de plazas, activos ociosos, tiempo/combustible perdido buscando estacionamiento.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40480"/>
            <a:ext cx="53492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84048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005072"/>
            <a:ext cx="6400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86784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977640"/>
            <a:ext cx="4206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¿Cuáles son los datos clave para los stakeholders? ¿Cómo se cumplen los requerimientos iniciales?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937760"/>
            <a:ext cx="498348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974336"/>
            <a:ext cx="4754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💡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TIR 31%, break-even mes 16, TELOS 88/100, 66 tests verdes, 6/6 requerimientos cumplidos, MVP en 12 semanas.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840480"/>
            <a:ext cx="53492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3840480"/>
            <a:ext cx="82296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005072"/>
            <a:ext cx="6400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86784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977640"/>
            <a:ext cx="4206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Calibri"/>
              </a:rPr>
              <a:t>Explique de forma reflexiva su aporte individual: fortalezas, dificultades y lecciones aprendidas.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937760"/>
            <a:ext cx="498348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974336"/>
            <a:ext cx="4754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💡 </a:t>
            </a:r>
            <a:r>
              <a:rPr sz="980" b="0" i="0">
                <a:solidFill>
                  <a:srgbClr val="1E293B"/>
                </a:solidFill>
                <a:latin typeface="Calibri"/>
              </a:rPr>
              <a:t>Personaliza con tu rol real: qué construiste, qué fue difícil (ej. Saga/RLS), qué aprendiste. Sé honesto y específico.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Cualquier integrante puede ser consultado en cualquiera de los 4 temas: prepara todas individualmente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REFLEXIÓN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Guía para la Reflexión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Cómo estructurar tu respuesta sobre aporte, fortalezas, dificultades y aprendizajes (P4)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28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82296" cy="2103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🎯 ¿Cuál fue mi aporte real?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9377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parte lideré personalmente?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entregables produje?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¿Cómo impactó al resultado grupal?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Sé específico: código, análisis,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82296" cy="21031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💪 ¿Cuáles son mis fortalezas?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49377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¿En qué dimensiones destaqué?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habilidades técnicas apliqué?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habilidades blandas demostré?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Ej: 'Mi manejo de RLS permitió...'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840480"/>
            <a:ext cx="82296" cy="21031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⚠️ ¿Qué dificultades enfrenté?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49377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fue difícil técnica/grupalmente?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¿Cómo resolví los obstáculos?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habría cambiado?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Sé honesto: demuestra madurez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5349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82296" cy="21031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776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📚 ¿Qué aprendí en el proceso?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34840"/>
            <a:ext cx="49377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conocimiento nuevo adquirí?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¿Qué herramienta aprendí a usar?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¿Cómo cambió mi visión del SW?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Conecta con la asignatura y el RA3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126480"/>
            <a:ext cx="1092708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6126480"/>
            <a:ext cx="82296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6126480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F4444"/>
                </a:solidFill>
                <a:latin typeface="Calibri"/>
              </a:rPr>
              <a:t>Recuerda: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la P4 se evalúa individualmente. No repitas lo del compañero — tu reflexión personal es lo que el docente quiere escuchar.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29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CONCLUSIONES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Cierre del Proceso de Selección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E2E8F0"/>
                </a:solidFill>
                <a:latin typeface="Calibri"/>
              </a:rPr>
              <a:t>Parkings Together — Opción A (Desarrollo Propio) es la alternativa técnicamente superior: TELOS 88/100 y Pugh 4.41/5.0.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E2E8F0"/>
                </a:solidFill>
                <a:latin typeface="Calibri"/>
              </a:rPr>
              <a:t>El MVP es real y funcional: Next.js + Supabase con geoconsultas PostGIS, motor Saga de reservas y 66 pruebas unitarias en verde.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E2E8F0"/>
                </a:solidFill>
                <a:latin typeface="Calibri"/>
              </a:rPr>
              <a:t>Se cumple el 100% del RA3: análisis crítico (IL 3.1), priorización con 6 técnicas (IL 3.2) y documentación final (IL 3.3).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9584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E2E8F0"/>
                </a:solidFill>
                <a:latin typeface="Calibri"/>
              </a:rPr>
              <a:t>Resuelve un problema real y medible: encontrar y monetizar estacionamientos en ciudades chilenas congestionadas.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965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E2E8F0"/>
                </a:solidFill>
                <a:latin typeface="Calibri"/>
              </a:rPr>
              <a:t>Proyección financiera viable: TIR 31%, break-even mes 16, modelo freemium generoso con el conductor.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PUNTAJES FINALES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1463040" cy="9601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82296" cy="960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30368"/>
            <a:ext cx="1463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4.41/5.0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6928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Matriz de Pugh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5120640"/>
            <a:ext cx="1463040" cy="9601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5120640"/>
            <a:ext cx="82296" cy="960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5230368"/>
            <a:ext cx="1463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88/100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66928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TELOS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40" y="5120640"/>
            <a:ext cx="1463040" cy="9601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49040" y="5120640"/>
            <a:ext cx="82296" cy="960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5230368"/>
            <a:ext cx="1463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#1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66928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5120640"/>
            <a:ext cx="1463040" cy="9601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03520" y="5120640"/>
            <a:ext cx="82296" cy="960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5230368"/>
            <a:ext cx="1463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66928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TIR 3 años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5120640"/>
            <a:ext cx="1463040" cy="9601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5120640"/>
            <a:ext cx="82296" cy="960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5230368"/>
            <a:ext cx="1463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$8M CLP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66928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Costo MVP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5120640"/>
            <a:ext cx="1463040" cy="9601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0" y="5120640"/>
            <a:ext cx="82296" cy="960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230368"/>
            <a:ext cx="1463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12 sem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66928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Plazo MVP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5120640"/>
            <a:ext cx="1463040" cy="960120"/>
          </a:xfrm>
          <a:prstGeom prst="roundRect">
            <a:avLst/>
          </a:prstGeom>
          <a:solidFill>
            <a:srgbClr val="14335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66960" y="5120640"/>
            <a:ext cx="82296" cy="960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5230368"/>
            <a:ext cx="1463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66 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566928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Dareko · Parkings Together · Economía colaborativa de estacionamientos · Semana 16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RÚBRICA OFICIAL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Rúbrica Oficial Parcial 3 — Criterios C1, C2, C3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Informe grupal — cómo lograr el 100% en cada criterio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30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292608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00200"/>
            <a:ext cx="2834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600200"/>
            <a:ext cx="278892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600200"/>
            <a:ext cx="26974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100% — Muy buen desempeño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600200"/>
            <a:ext cx="256032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00200"/>
            <a:ext cx="24688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80% — Buen desempeño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600200"/>
            <a:ext cx="182880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60020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60% — Aceptable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44200" y="1600200"/>
            <a:ext cx="82296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17352" y="1600200"/>
            <a:ext cx="7315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Pond.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11680"/>
            <a:ext cx="292608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011680"/>
            <a:ext cx="278892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C1 — Implicancias, proyecciones y expectativas
(10% total)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011680"/>
            <a:ext cx="278892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011680"/>
            <a:ext cx="26517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Define con precisión y detalle las implicancias y proyecciones, de forma reflexiva y alineada con los objetivos.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011680"/>
            <a:ext cx="25603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011680"/>
            <a:ext cx="24231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Define claramente con reflexión adecuada y alineación.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2011680"/>
            <a:ext cx="1828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011680"/>
            <a:ext cx="16916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Define de manera aceptable, con dificultades en la reflexión.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44200" y="2011680"/>
            <a:ext cx="8229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5640" y="2011680"/>
            <a:ext cx="68580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246120"/>
            <a:ext cx="2926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246120"/>
            <a:ext cx="278892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C2 — Técnicas de análisis para justificar la elección
(10% total)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246120"/>
            <a:ext cx="278892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246120"/>
            <a:ext cx="26517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Describe detalladamente las técnicas, justificando con argumentos sólidos y fundamentados.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2461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246120"/>
            <a:ext cx="24231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Describe claramente con argumentos bien fundamentados.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3246120"/>
            <a:ext cx="1828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246120"/>
            <a:ext cx="16916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Describe de manera aceptable, con falta de profundidad.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44200" y="3246120"/>
            <a:ext cx="822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5640" y="3246120"/>
            <a:ext cx="68580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80560"/>
            <a:ext cx="292608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480560"/>
            <a:ext cx="278892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C3 — Documentación final + MVP funcional
(10% total)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480560"/>
            <a:ext cx="278892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480560"/>
            <a:ext cx="26517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Documentación completa y persuasiva, con datos clave e incluye MVP funcional real.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480560"/>
            <a:ext cx="25603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480560"/>
            <a:ext cx="24231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Comunica persuasivamente con mínimos errores y datos clave.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4480560"/>
            <a:ext cx="1828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4480560"/>
            <a:ext cx="16916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Presenta de forma aceptable, con algunos errores.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44200" y="4480560"/>
            <a:ext cx="8229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5640" y="4480560"/>
            <a:ext cx="68580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989320"/>
            <a:ext cx="1092708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0080" y="5989320"/>
            <a:ext cx="82296" cy="5943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989320"/>
            <a:ext cx="105156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✅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Parkings Together cumple C1–C3 en slides 3,4,21,33 (implicancias) · 7,8,10,11,12 (6 técnicas) · 23,24,25,35 (documentación + MVP real)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RÚBRICA OFICIAL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Rúbrica Oficial Parcial 3 — Criterios C4, C5, C6, C7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Defensa oral individual — cómo alcanzar el 100% en cada criterio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31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292608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00200"/>
            <a:ext cx="2834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600200"/>
            <a:ext cx="278892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600200"/>
            <a:ext cx="26974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100% — Muy buen desempeño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600200"/>
            <a:ext cx="256032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00200"/>
            <a:ext cx="24688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80% — Buen desempeño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600200"/>
            <a:ext cx="182880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60020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60% — Aceptable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44200" y="1600200"/>
            <a:ext cx="82296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17352" y="1600200"/>
            <a:ext cx="7315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Pond.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11680"/>
            <a:ext cx="292608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011680"/>
            <a:ext cx="278892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C4 — Demo MVP + preguntas técnicas
(15% total)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011680"/>
            <a:ext cx="278892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011680"/>
            <a:ext cx="26517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Resume atractiva y detalladamente la opción, respondiendo con precisión técnica todas las preguntas.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011680"/>
            <a:ext cx="25603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011680"/>
            <a:ext cx="24231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Resume claramente con precisión técnica y mínimos errores.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2011680"/>
            <a:ext cx="1828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011680"/>
            <a:ext cx="16916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Resume de forma aceptable, con algunos errores.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44200" y="2011680"/>
            <a:ext cx="8229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5640" y="2011680"/>
            <a:ext cx="68580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246120"/>
            <a:ext cx="2926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246120"/>
            <a:ext cx="278892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C5 — Justifica selección y vía de desarrollo
(20% total)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246120"/>
            <a:ext cx="278892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246120"/>
            <a:ext cx="26517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Justifica detalladamente la selección y vía, respondiendo sin errores las preguntas técnicas.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2461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246120"/>
            <a:ext cx="24231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Justifica claramente con precisión y mínimos errores.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3246120"/>
            <a:ext cx="1828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246120"/>
            <a:ext cx="16916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Justifica de manera aceptable, con algunos errores.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44200" y="3246120"/>
            <a:ext cx="822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5640" y="3246120"/>
            <a:ext cx="68580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20%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80560"/>
            <a:ext cx="292608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480560"/>
            <a:ext cx="278892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C6 — Resultados claros, persuasivos, requerimientos
(20% total)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480560"/>
            <a:ext cx="278892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480560"/>
            <a:ext cx="26517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Explica los resultados de forma clara y persuasiva, cumpliendo todos los requerimientos con precisión.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480560"/>
            <a:ext cx="25603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480560"/>
            <a:ext cx="24231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Explica claramente cumpliendo la mayoría, con mínimos errores.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4480560"/>
            <a:ext cx="1828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4480560"/>
            <a:ext cx="16916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Explica de manera aceptable, cumpliendo parcialmente.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44200" y="4480560"/>
            <a:ext cx="8229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5640" y="4480560"/>
            <a:ext cx="68580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20%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715000"/>
            <a:ext cx="2926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715000"/>
            <a:ext cx="278892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C7 — Aporte individual reflexivo
(15% total)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5715000"/>
            <a:ext cx="278892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0" y="5715000"/>
            <a:ext cx="26517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Explica de forma reflexiva y detallada su aporte: fortalezas, dificultades y lecciones aprendidas.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571500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5715000"/>
            <a:ext cx="242316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Explica de forma reflexiva con mínimas omisiones.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5715000"/>
            <a:ext cx="1828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5715000"/>
            <a:ext cx="16916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93B"/>
                </a:solidFill>
                <a:latin typeface="Calibri"/>
              </a:rPr>
              <a:t>Explica de forma aceptable, con algunas omisiones.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44200" y="5715000"/>
            <a:ext cx="822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35640" y="5715000"/>
            <a:ext cx="68580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93B"/>
                </a:solidFill>
                <a:latin typeface="Calibri"/>
              </a:rPr>
              <a:t>15%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989320"/>
            <a:ext cx="1092708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40080" y="5989320"/>
            <a:ext cx="82296" cy="5943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5989320"/>
            <a:ext cx="105156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✅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C4→slide 25,36 (demo real) · C5→slides 6,8,12,37 (justificación) · C6→slides 13,20,38 (resultados) · C7→slides 26,39 (reflexión)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4048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C1 ·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29184"/>
            <a:ext cx="9144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Implicancias y Expectativas por Opción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CBD5E1"/>
                </a:solidFill>
                <a:latin typeface="Calibri"/>
              </a:rPr>
              <a:t>Análisis reflexivo alineado con los objetivos de Dareko — Criterio C1 al 100%</a:t>
            </a:r>
          </a:p>
        </p:txBody>
      </p:sp>
      <p:sp>
        <p:nvSpPr>
          <p:cNvPr id="8" name="Oval 7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32 /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3611880" cy="4160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82296" cy="4160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417320"/>
            <a:ext cx="11430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399032"/>
            <a:ext cx="1143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✓ ELEGIDA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664208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OPCIÓN A — Desarrollo Propio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IMPLICANCIAS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329184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Compromiso técnico de 12 sem. con stack moderno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Control total del código y la arquitectura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Datos y seguridad (RLS) bajo control propio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PROYECCIONES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Mes 6: MVP en producción + pagos reales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Mes 12: cobertura 15+ comunas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Mes 24: expansión regional LATAM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00600"/>
            <a:ext cx="32461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828032"/>
            <a:ext cx="3063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Calibri"/>
              </a:rPr>
              <a:t>ALINEACIÓN: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Alineación máxima: control, propiedad intelectual y escalabilidad coinciden con la visión de largo plazo.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1554480"/>
            <a:ext cx="361188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25112" y="1554480"/>
            <a:ext cx="82296" cy="41605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1664208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OPCIÓN B — No-Code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205740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IMPLICANCIAS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2331720"/>
            <a:ext cx="329184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Dependencia total de proveedores (Bubble)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Vendor lock-in estructural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Sin geoconsultas reales ni RLS propio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42900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PROYECCIONES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3703320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Mes 2: prototipo básico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Mes 12: producto limitado sin diferenciación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Sin proyección de expansión real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07992" y="4800600"/>
            <a:ext cx="32461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828032"/>
            <a:ext cx="3063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ALINEACIÓN: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Alineación baja: no permite la reserva en tiempo real sobre PostGIS, núcleo de la propuesta.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4" y="1554480"/>
            <a:ext cx="361188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01584" y="1554480"/>
            <a:ext cx="82296" cy="41605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1664208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OPCIÓN C — SaaS White-label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05740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IMPLICANCIAS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2331720"/>
            <a:ext cx="329184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Dependencia parcial de módulos externos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Personalización limitada al 30–40%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Comisiones del proveedor difíciles de controlar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342900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PROYECCIONES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3703320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Mes 3: producto funcional básico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Mes 12: limitado por el techo del SaaS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Sin crecimiento más allá del año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4464" y="4800600"/>
            <a:ext cx="32461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4828032"/>
            <a:ext cx="3063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ALINEACIÓN: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Alineación media: cubre lo básico pero impide diferenciación real y control del margen.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52160"/>
            <a:ext cx="11064240" cy="6400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52160"/>
            <a:ext cx="10698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Conclusión reflexiva C1: 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solo la Opción A alinea las implicancias técnicas con las expectativas estratégicas de largo plazo. B y C ofrecen ventajas de corto plazo con limitaciones estructurales incompatibles con la propuesta de valor.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4048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C2 ·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29184"/>
            <a:ext cx="9144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Técnicas de Análisis: Argumentación Fundamentada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CBD5E1"/>
                </a:solidFill>
                <a:latin typeface="Calibri"/>
              </a:rPr>
              <a:t>Descripción detallada + justificación sólida de la elección grupal — Criterio C2 al 100%</a:t>
            </a:r>
          </a:p>
        </p:txBody>
      </p:sp>
      <p:sp>
        <p:nvSpPr>
          <p:cNvPr id="8" name="Oval 7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33 /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5440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82296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7335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664208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Matriz de Pugh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664208"/>
            <a:ext cx="1234440" cy="31089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645920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A=4.41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029968"/>
            <a:ext cx="45262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Lidera en 5 de 7 criterios. Ninguna otra opción supera a A en los de mayor peso: escalabilidad (18%) y control (15%).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554480"/>
            <a:ext cx="5440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1554480"/>
            <a:ext cx="82296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7335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664208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Factibilidad TELOS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87000" y="1664208"/>
            <a:ext cx="1234440" cy="31089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1645920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A=88/100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029968"/>
            <a:ext cx="45262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A domina en Técnica (91) y Legal (94). Única opción con factibilidad técnica y legal simultáneamente altas.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926080"/>
            <a:ext cx="5440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2926080"/>
            <a:ext cx="82296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30632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04495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035808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Costo-Beneficio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3035808"/>
            <a:ext cx="1234440" cy="31089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017520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TIR 31% 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401568"/>
            <a:ext cx="45262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VAN $5.4M a 3 años. Mayor inversión inicial, pero el modelo de comisión propia genera ingresos imposibles en B/C.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926080"/>
            <a:ext cx="5440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2926080"/>
            <a:ext cx="82296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0" y="30632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04495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035808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Árbol de Decisión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87000" y="3035808"/>
            <a:ext cx="1234440" cy="31089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3017520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VE $6.1M 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401568"/>
            <a:ext cx="45262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Mejor valor esperado en todo escenario. En adopción alta (60%) A gana $10.5M vs B $4M.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297680"/>
            <a:ext cx="5440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4297680"/>
            <a:ext cx="82296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5800" y="44348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41655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4407408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FODA Cruzado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4407408"/>
            <a:ext cx="1234440" cy="31089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4389120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Estrategia FO única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4773168"/>
            <a:ext cx="45262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Combina MVP funcional propio (F) con mercado local sin líder (O). Las debilidades de A son mitigables; las de B/C son estructurales.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4297680"/>
            <a:ext cx="5440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72200" y="4297680"/>
            <a:ext cx="82296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09360" y="44348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41655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4407408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Benchmarking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4407408"/>
            <a:ext cx="1234440" cy="31089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4389120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#1 local único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4773168"/>
            <a:ext cx="45262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Única plataforma con ★★★★★ en cobertura chilena y reserva en vivo. SpotHero no tiene presencia local.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Conclusión C2: 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las 6 técnicas son complementarias y convergentes: Pugh y TELOS validan factibilidad; árbol y costo-beneficio confirman viabilidad; FODA y benchmarking aseguran diferenciación. Todas apuntan a 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4048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C3 ·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29184"/>
            <a:ext cx="9144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Documentación Final + Evidencia MVP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CBD5E1"/>
                </a:solidFill>
                <a:latin typeface="Calibri"/>
              </a:rPr>
              <a:t>Presentación persuasiva de datos verificables — Criterio C3 al 100%</a:t>
            </a:r>
          </a:p>
        </p:txBody>
      </p:sp>
      <p:sp>
        <p:nvSpPr>
          <p:cNvPr id="8" name="Oval 7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34 /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521208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82296" cy="4160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64208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0B981"/>
                </a:solidFill>
                <a:latin typeface="Calibri"/>
              </a:rPr>
              <a:t>✅ DOCUMENTACIÓN ENTREGADA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Resumen ejecutivo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59736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Contexto organizacional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16352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Análisis comparativo (6 técnicas)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72968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Factibilidad TELOS (88/100)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9584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Diseño técnico (BFF + Saga)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Cronograma Gantt 12 semanas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42816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Proyecciones financieras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9432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Gestión de riesgos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56048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1E293B"/>
                </a:solidFill>
                <a:latin typeface="Calibri"/>
              </a:rPr>
              <a:t>MVP funcional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12664"/>
            <a:ext cx="4846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Referencias APA + INFORME_TECNICO.md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554480"/>
            <a:ext cx="5669280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0" y="1554480"/>
            <a:ext cx="82296" cy="27889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664208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DATOS CLAVE PARA STAKEHOLDERS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14884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25856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$8M CLP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67919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Inversión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25512" y="214884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25512" y="225856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31%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2" y="267919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TIR 3 años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78824" y="214884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78824" y="225856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$5.4M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267919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VAN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32136" y="214884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32136" y="225856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Mes 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7856" y="267919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Break-even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320040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31012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88/100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73075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TELOS 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25512" y="320040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331012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4.41/5.0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373075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Pugh 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78824" y="320040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78824" y="331012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12 sem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24544" y="373075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Plazo MVP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32136" y="3200400"/>
            <a:ext cx="1261872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32136" y="3310128"/>
            <a:ext cx="12618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66 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77856" y="3730752"/>
            <a:ext cx="11704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Tests verdes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0" y="4526280"/>
            <a:ext cx="5669280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43600" y="4526280"/>
            <a:ext cx="82296" cy="1188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4617720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MVP FUNCIONAL — EVIDENCIA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983480"/>
            <a:ext cx="5257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Sistema ejecutable (npm run dev), desplegable en Vercel, con búsqueda geoespacial real sobre PostGIS, motor de reservas Saga atómico y 66 pruebas unitarias automatizadas.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La documentación completa vive en el repositorio: INFORME_TECNICO.md + carpeta docs/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4048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C4 ·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29184"/>
            <a:ext cx="9144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Demo MVP — Funcionalidades Implementadas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CBD5E1"/>
                </a:solidFill>
                <a:latin typeface="Calibri"/>
              </a:rPr>
              <a:t>Demostración técnica en vivo del MVP — guion de la defensa oral</a:t>
            </a:r>
          </a:p>
        </p:txBody>
      </p:sp>
      <p:sp>
        <p:nvSpPr>
          <p:cNvPr id="8" name="Oval 7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35 /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10642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600200"/>
            <a:ext cx="82296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219456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1. Mapa + GPS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600200"/>
            <a:ext cx="82296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Abrir /mapa, activar 'Usar mi ubicación', mostrar clústeres y el filtro por radio (RPC PostGIS buscar_estacionamientos_radio).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51760"/>
            <a:ext cx="110642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651760"/>
            <a:ext cx="82296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834640"/>
            <a:ext cx="219456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2. Reserva Saga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651760"/>
            <a:ext cx="82296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Seleccionar una plaza, elegir fecha/hora, ver la calculadora de precio y confirmar: los 3 pasos atómicos (lock → pago → confirma).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03320"/>
            <a:ext cx="110642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82296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886200"/>
            <a:ext cx="219456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3. Premium +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703320"/>
            <a:ext cx="82296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Mostrar /premium con la calculadora de break-even y /ranking con el podio por zona y filtros geográficos.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54880"/>
            <a:ext cx="110642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82296" cy="9144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937760"/>
            <a:ext cx="2194560" cy="54864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4. Seguridad RLS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754880"/>
            <a:ext cx="82296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Explicar cómo el JWT viaja al BFF y auth.uid() aísla los datos: un usuario nunca ve reservas de otro.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97880"/>
            <a:ext cx="11064240" cy="5486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97880"/>
            <a:ext cx="106984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Comando de arranque:  </a:t>
            </a:r>
            <a:r>
              <a:rPr sz="1050" b="0" i="1">
                <a:solidFill>
                  <a:srgbClr val="FFFFFF"/>
                </a:solidFill>
                <a:latin typeface="Calibri"/>
              </a:rPr>
              <a:t>npm install → npm run dev → http://localhost:3000   ·   o ver el deploy en producción (Vercel).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4048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C5 ·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29184"/>
            <a:ext cx="9144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Justificación Técnica de la Selección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CBD5E1"/>
                </a:solidFill>
                <a:latin typeface="Calibri"/>
              </a:rPr>
              <a:t>Justificación detallada sin errores + respuesta precisa a preguntas técnicas — C5 al 100%</a:t>
            </a:r>
          </a:p>
        </p:txBody>
      </p:sp>
      <p:sp>
        <p:nvSpPr>
          <p:cNvPr id="8" name="Oval 7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36 /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67665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82296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91056"/>
            <a:ext cx="6400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1. Stack maduro y dominado por el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83664"/>
            <a:ext cx="64465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Next.js 14 + Supabase + PostgreSQL/PostGIS tienen documentación extensa y SDKs estables. El equipo ya domina React y SQL, reduciendo la curva.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04288"/>
            <a:ext cx="67665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304288"/>
            <a:ext cx="82296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40864"/>
            <a:ext cx="6400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2. PostGIS es irremplazable para el núcleo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33472"/>
            <a:ext cx="64465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La búsqueda 'plazas cerca de mí' exige geoconsultas reales (ST_DWithin). Bubble (B) y los SaaS (C) no ofrecen este control espacial.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54096"/>
            <a:ext cx="67665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054096"/>
            <a:ext cx="82296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6400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3. Propiedad intelectual = ventaja competitiva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64465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El código, la lógica de matching, el modelo de comisión y la API son propios. En B/C el código pertenece al proveedor.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03904"/>
            <a:ext cx="67665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803904"/>
            <a:ext cx="82296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6400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4. Escalabilidad sin techo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33088"/>
            <a:ext cx="64465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Supabase escala la BD; Vercel escala el frontend/BFF. Sin límites de requests/mes ni comisiones de plataforma como en No-Code o SaaS.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1554480"/>
            <a:ext cx="4160520" cy="274320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645920"/>
            <a:ext cx="3749039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PREGUNTAS TÉCNICAS — FAQ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11680"/>
            <a:ext cx="37490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P: ¿Por qué Supabase y no Firebase?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267712"/>
            <a:ext cx="3794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BD5E1"/>
                </a:solidFill>
                <a:latin typeface="Calibri"/>
              </a:rPr>
              <a:t>R: Postgres relacional + PostGIS + RLS por filas; Firebase (NoSQL) no da geoconsultas SQL ni joins.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761488"/>
            <a:ext cx="37490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P: ¿Cómo se evita la doble reserva?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017520"/>
            <a:ext cx="3794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BD5E1"/>
                </a:solidFill>
                <a:latin typeface="Calibri"/>
              </a:rPr>
              <a:t>R: Saga con spot_locks y rango de tiempo (tstzrange &amp;&amp;) en transacción atómica.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511296"/>
            <a:ext cx="37490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P: ¿Cómo se protegen los datos?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767328"/>
            <a:ext cx="3794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BD5E1"/>
                </a:solidFill>
                <a:latin typeface="Calibri"/>
              </a:rPr>
              <a:t>R: RLS en todas las tablas: auth.uid() filtra en el servidor, no en el cliente.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4434840"/>
            <a:ext cx="4160520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52360" y="4434840"/>
            <a:ext cx="82296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4526280"/>
            <a:ext cx="37490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Conclusión C5: 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la Opción A resuelve a la vez geo-matching real, escalabilidad sin dependencias, propiedad intelectual y monetización por comisión propia.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9144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Justificación respaldada por código real: sql/007_reservas_pro.sql · packages/supabase-db/index.js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4048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C6 ·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29184"/>
            <a:ext cx="9144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Resultados del Proceso — Comunicación Persuasiva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CBD5E1"/>
                </a:solidFill>
                <a:latin typeface="Calibri"/>
              </a:rPr>
              <a:t>Resultados claros + requerimientos cumplidos + precisión técnica — C6 al 100%</a:t>
            </a:r>
          </a:p>
        </p:txBody>
      </p:sp>
      <p:sp>
        <p:nvSpPr>
          <p:cNvPr id="8" name="Oval 7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37 / 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402336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39319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Requerimiento Inicial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554480"/>
            <a:ext cx="585216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57607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Cómo se Cumple en Parkings Together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554480"/>
            <a:ext cx="1188720" cy="41148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1554480"/>
            <a:ext cx="10972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65960"/>
            <a:ext cx="4023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965960"/>
            <a:ext cx="3886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Búsqueda de plazas en tiempo 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965960"/>
            <a:ext cx="58521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965960"/>
            <a:ext cx="5715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Mapa Leaflet + RPC PostGIS por radio. Resultado en &lt; 2 seg.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96596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965960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4231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423160"/>
            <a:ext cx="3886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Reserva y pago seguros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423160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2423160"/>
            <a:ext cx="5715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Motor Saga atómico (3 pasos) + pago abstracto (Webpay en prod).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242316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2423160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80360"/>
            <a:ext cx="4023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880360"/>
            <a:ext cx="3886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Conductor reserva sin suscripción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880360"/>
            <a:ext cx="58521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2880360"/>
            <a:ext cx="5715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Plan gratuito ilimitado; comisión ~8% incluida en el precio.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4160" y="288036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2880360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3375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337560"/>
            <a:ext cx="3886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Gestión para arrendadores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337560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3337560"/>
            <a:ext cx="5715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Panel con CRUD de plazas, reservas y analítica de ingresos.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333756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3337560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794760"/>
            <a:ext cx="4023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3794760"/>
            <a:ext cx="3886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Aislamiento de datos (Ley 19.628)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94760"/>
            <a:ext cx="58521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3794760"/>
            <a:ext cx="5715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RLS en todas las tablas; auth.uid() evaluado en servidor.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3794760"/>
            <a:ext cx="1188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3794760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2519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251960"/>
            <a:ext cx="3886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93B"/>
                </a:solidFill>
                <a:latin typeface="Calibri"/>
              </a:rPr>
              <a:t>MVP funcional + 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4251960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81728" y="4251960"/>
            <a:ext cx="5715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Sistema desplegable + 66 pruebas unitarias en verde.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24160" y="425196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24160" y="4251960"/>
            <a:ext cx="1188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846320"/>
            <a:ext cx="173736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8640" y="4846320"/>
            <a:ext cx="82296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956048"/>
            <a:ext cx="1737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4.41/5.0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39496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Pugh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04871" y="4846320"/>
            <a:ext cx="173736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404871" y="4846320"/>
            <a:ext cx="82296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04871" y="4956048"/>
            <a:ext cx="1737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88/100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04871" y="539496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TELOS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1102" y="4846320"/>
            <a:ext cx="173736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261102" y="4846320"/>
            <a:ext cx="82296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1102" y="4956048"/>
            <a:ext cx="1737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31%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1102" y="539496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TIR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17333" y="4846320"/>
            <a:ext cx="173736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17333" y="4846320"/>
            <a:ext cx="82296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17333" y="4956048"/>
            <a:ext cx="1737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Mes 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17333" y="539496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Break-even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73564" y="4846320"/>
            <a:ext cx="173736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973564" y="4846320"/>
            <a:ext cx="82296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73564" y="4956048"/>
            <a:ext cx="1737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6/6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73564" y="539496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Requisitos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29795" y="4846320"/>
            <a:ext cx="173736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829795" y="4846320"/>
            <a:ext cx="82296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29795" y="4956048"/>
            <a:ext cx="1737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66 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29795" y="539496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Tests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8640" y="5897880"/>
            <a:ext cx="11064240" cy="5486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5897880"/>
            <a:ext cx="106984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Mensaje persuasivo: 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Parkings Together es la inversión de mayor retorno y menor riesgo estratégico. El MVP entregado es evidencia concreta — no una promesa — de viabilidad técnica y comercial.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84048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C7 ·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29184"/>
            <a:ext cx="9144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Aporte Individual — Análisis Crítico y Reflexivo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CBD5E1"/>
                </a:solidFill>
                <a:latin typeface="Calibri"/>
              </a:rPr>
              <a:t>Reflexión detallada + fortalezas + dificultades + lecciones aprendidas — C7 al 100%</a:t>
            </a:r>
          </a:p>
        </p:txBody>
      </p:sp>
      <p:sp>
        <p:nvSpPr>
          <p:cNvPr id="8" name="Oval 7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38 /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36118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82296" cy="4526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554480"/>
            <a:ext cx="36118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Tech Lead / Full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0312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Calibri"/>
              </a:rPr>
              <a:t>MIS APORTES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31720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Diseñé la arquitectura BFF de 4 capas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Implementé el motor Saga de reservas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Configuré el monorepo y Git por ramas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Calibri"/>
              </a:rPr>
              <a:t>FORTALEZAS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Dominio del stack y toma de decisiones bajo incertidumbre.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Calibri"/>
              </a:rPr>
              <a:t>DIFICULTADES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25112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La concurrencia en reservas fue compleja: la Saga tomó varias iteraciones.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Calibri"/>
              </a:rPr>
              <a:t>LECCIONES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32918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Aprendí que el aislamiento atómico exige diseñar pensando en fallos.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554480"/>
            <a:ext cx="36118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25112" y="1554480"/>
            <a:ext cx="82296" cy="4526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1554480"/>
            <a:ext cx="36118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155448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Backend /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210312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MIS APORTES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2331720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Escribí las 11 migraciones SQL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Implementé las políticas RLS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Cubrí el dominio con 66 pruebas unitarias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38328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FORTALEZAS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59359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Manejo de PostgreSQL y seguridad a nivel de fila.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11480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DIFICULTADES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4325112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Depurar las políticas RLS sin bloquear consultas legítimas fue difícil.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498348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LECCIONES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5193792"/>
            <a:ext cx="32918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Aprendí que la seguridad se diseña desde el esquema, no se agrega después.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4" y="1554480"/>
            <a:ext cx="36118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01584" y="1554480"/>
            <a:ext cx="82296" cy="4526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01584" y="1554480"/>
            <a:ext cx="361188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1584" y="155448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Frontend / 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210312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59E0B"/>
                </a:solidFill>
                <a:latin typeface="Calibri"/>
              </a:rPr>
              <a:t>MIS APORTES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2331720"/>
            <a:ext cx="32918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Construí el mapa Leaflet + lightbox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Desarrollé el registro multi-paso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930" b="0" i="0">
                <a:solidFill>
                  <a:srgbClr val="1E293B"/>
                </a:solidFill>
                <a:latin typeface="Calibri"/>
              </a:rPr>
              <a:t>Diseñé premium y ranking responsive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338328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59E0B"/>
                </a:solidFill>
                <a:latin typeface="Calibri"/>
              </a:rPr>
              <a:t>FORTALEZAS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359359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Traducir datos complejos en una UI clara y accesible.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411480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59E0B"/>
                </a:solidFill>
                <a:latin typeface="Calibri"/>
              </a:rPr>
              <a:t>DIFICULTADES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4" y="4325112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Hacer el mapa fluido en móvil con clústeres fue un reto de rendimiento.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4983480"/>
            <a:ext cx="3291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59E0B"/>
                </a:solidFill>
                <a:latin typeface="Calibri"/>
              </a:rPr>
              <a:t>LECCIONES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4464" y="5193792"/>
            <a:ext cx="32918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Aprendí que la UX define la adopción tanto como la funcionalidad.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217920"/>
            <a:ext cx="11064240" cy="411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217920"/>
            <a:ext cx="106984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F4444"/>
                </a:solidFill>
                <a:latin typeface="Calibri"/>
              </a:rPr>
              <a:t>Nota:  </a:t>
            </a:r>
            <a:r>
              <a:rPr sz="1000" b="0" i="1">
                <a:solidFill>
                  <a:srgbClr val="1E293B"/>
                </a:solidFill>
                <a:latin typeface="Calibri"/>
              </a:rPr>
              <a:t>cada integrante personaliza esta reflexión con SU aporte real. La especificidad es lo que da el 100% en C7.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MAPA DE COBERTURA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¿Dónde está cada criterio en este deck?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515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BD5E1"/>
                </a:solidFill>
                <a:latin typeface="Calibri"/>
              </a:rPr>
              <a:t>Guía rápida: criterio → slides que demuestran el 100% de desempeño</a:t>
            </a:r>
          </a:p>
        </p:txBody>
      </p:sp>
      <p:sp>
        <p:nvSpPr>
          <p:cNvPr id="7" name="Oval 6"/>
          <p:cNvSpPr/>
          <p:nvPr/>
        </p:nvSpPr>
        <p:spPr>
          <a:xfrm>
            <a:off x="11140135" y="3840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0135" y="38404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39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1463040" cy="38404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1554480"/>
            <a:ext cx="2743200" cy="38404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554480"/>
            <a:ext cx="26517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554480"/>
            <a:ext cx="2377440" cy="38404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Slides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554480"/>
            <a:ext cx="4343400" cy="38404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554480"/>
            <a:ext cx="4251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Tip para el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938528"/>
            <a:ext cx="14630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938528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563EB"/>
                </a:solidFill>
                <a:latin typeface="Calibri"/>
              </a:rPr>
              <a:t>C1 ·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1938528"/>
            <a:ext cx="27432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1938528"/>
            <a:ext cx="26060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Implicancias y proyecciones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938528"/>
            <a:ext cx="2377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938528"/>
            <a:ext cx="2240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3, 4, 21, 33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938528"/>
            <a:ext cx="4343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938528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Objetivos + expectativas por opción + alineación estratégica.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505456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505456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563EB"/>
                </a:solidFill>
                <a:latin typeface="Calibri"/>
              </a:rPr>
              <a:t>C2 · 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50545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2505456"/>
            <a:ext cx="26060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Técnicas de análisis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505456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2505456"/>
            <a:ext cx="2240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7, 8, 10, 34 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505456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505456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Cita puntajes: Pugh 4.41, TELOS 88, VE $6.1M.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072384"/>
            <a:ext cx="14630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072384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563EB"/>
                </a:solidFill>
                <a:latin typeface="Calibri"/>
              </a:rPr>
              <a:t>C3 · 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3072384"/>
            <a:ext cx="27432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3072384"/>
            <a:ext cx="26060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Documentación + MVP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072384"/>
            <a:ext cx="2377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072384"/>
            <a:ext cx="2240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23, 24, 25, 35 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072384"/>
            <a:ext cx="4343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072384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Checklist + MVP real corriendo + cifras verificables.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639312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3639312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563EB"/>
                </a:solidFill>
                <a:latin typeface="Calibri"/>
              </a:rPr>
              <a:t>C4 · 15%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03120" y="363931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0" y="3639312"/>
            <a:ext cx="26060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Demo MVP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639312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639312"/>
            <a:ext cx="2240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15, 16, 18, 36 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3639312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3639312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npm run dev → mapa → reserva Saga → JSON real.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206240"/>
            <a:ext cx="14630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4206240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563EB"/>
                </a:solidFill>
                <a:latin typeface="Calibri"/>
              </a:rPr>
              <a:t>C5 · 20%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03120" y="4206240"/>
            <a:ext cx="27432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94560" y="4206240"/>
            <a:ext cx="26060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Justifica selección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4206240"/>
            <a:ext cx="2377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60" y="4206240"/>
            <a:ext cx="2240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6, 8, 12, 37 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3760" y="4206240"/>
            <a:ext cx="4343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4206240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Responde: ¿por qué Supabase?, ¿cómo evita doble reserva?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773168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4773168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563EB"/>
                </a:solidFill>
                <a:latin typeface="Calibri"/>
              </a:rPr>
              <a:t>C6 · 20%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03120" y="477316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94560" y="4773168"/>
            <a:ext cx="26060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Resultados persuasivos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46320" y="477316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37760" y="4773168"/>
            <a:ext cx="2240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13, 20, 30, 38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4773168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4773168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Tabla 6/6 requisitos + KPIs con valores concretos.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5340096"/>
            <a:ext cx="14630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5340096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563EB"/>
                </a:solidFill>
                <a:latin typeface="Calibri"/>
              </a:rPr>
              <a:t>C7 · 15%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03120" y="5340096"/>
            <a:ext cx="27432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94560" y="5340096"/>
            <a:ext cx="26060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Aporte individual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0" y="5340096"/>
            <a:ext cx="2377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37760" y="5340096"/>
            <a:ext cx="2240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26, 29, 39 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5340096"/>
            <a:ext cx="4343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0" y="5340096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Personaliza con TU rol: código, decisiones, aprendizajes.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5897880"/>
            <a:ext cx="10927080" cy="548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40080" y="5897880"/>
            <a:ext cx="82296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5897880"/>
            <a:ext cx="105156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★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Los slides marcados con ★ son los que más directamente cumplen el 100% de cada criterio. Úsalos como referencia central en tu defensa oral.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